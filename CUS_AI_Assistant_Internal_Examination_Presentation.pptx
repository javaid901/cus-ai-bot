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I SHOULD SAY (30-60 SECONDS) ===</a:t>
            </a:r>
          </a:p>
          <a:p>
            <a:r>
              <a:t>Good morning respected examiners and teachers. I am presenting my MCA project called CUS AI Assistant. This project is a university chatbot designed for Cluster University Srinagar. It helps students find university information easily, access student services like exam results and admit cards, and file complaints or grievances through a single conversational system.</a:t>
            </a:r>
          </a:p>
          <a:p/>
          <a:p>
            <a:r>
              <a:t>=== EXAMINER FOLLOW-UPS &amp; SIMPLE ANSWERS ===</a:t>
            </a:r>
          </a:p>
          <a:p>
            <a:r>
              <a:t>Q: What is the main objective of this project?</a:t>
            </a:r>
          </a:p>
          <a:p>
            <a:r>
              <a:t>A: To provide a single, easy-to-use chatbot where students can get accurate university information and access services without having to visit multiple separate portals or university offices.</a:t>
            </a:r>
          </a:p>
          <a:p/>
          <a:p>
            <a:r>
              <a:t>=== IF EXAMINER ASKS WHERE THIS IS IMPLEMENTED ===</a:t>
            </a:r>
          </a:p>
          <a:p>
            <a:r>
              <a:t>Main entry point: backend/app/main.py</a:t>
            </a:r>
          </a:p>
          <a:p>
            <a:r>
              <a:t>Frontend home: frontend/pages/index.html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I SHOULD SAY (30-60 SECONDS) ===</a:t>
            </a:r>
          </a:p>
          <a:p>
            <a:r>
              <a:t>In this slide, I introduce what CUS AI Assistant is and why it matters. It is a web-based chatbot created specifically for our university. Instead of opening multiple websites or PDF circulars, a student can simply ask questions in plain English or use voice input. It serves students, college authorities, and system administrators.</a:t>
            </a:r>
          </a:p>
          <a:p/>
          <a:p>
            <a:r>
              <a:t>=== EXAMINER FOLLOW-UPS &amp; SIMPLE ANSWERS ===</a:t>
            </a:r>
          </a:p>
          <a:p>
            <a:r>
              <a:t>Q: Is this only for students?</a:t>
            </a:r>
          </a:p>
          <a:p>
            <a:r>
              <a:t>A: Students are the primary users, but university authorities also use it to respond to student grievances, and administrators use it to manage documents and syllabus data.</a:t>
            </a:r>
          </a:p>
          <a:p/>
          <a:p>
            <a:r>
              <a:t>=== IF EXAMINER ASKS WHERE THIS IS IMPLEMENTED ===</a:t>
            </a:r>
          </a:p>
          <a:p>
            <a:r>
              <a:t>Frontend interface: frontend/pages/index.html, frontend/js/chatbot.js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I SHOULD SAY (30-60 SECONDS) ===</a:t>
            </a:r>
          </a:p>
          <a:p>
            <a:r>
              <a:t>Here are the four practical problems we identified: First, university information is scattered in many PDFs and web pages. Second, student services like results and admit cards are located on separate links. Third, complaint handling is slow because students often send complaints to the wrong office without clear details. Fourth, ordinary AI chatbots can hallucinate or invent wrong dates and fees.</a:t>
            </a:r>
          </a:p>
          <a:p/>
          <a:p>
            <a:r>
              <a:t>=== EXAMINER FOLLOW-UPS &amp; SIMPLE ANSWERS ===</a:t>
            </a:r>
          </a:p>
          <a:p>
            <a:r>
              <a:t>Q: Why not just use ChatGPT for university questions?</a:t>
            </a:r>
          </a:p>
          <a:p>
            <a:r>
              <a:t>A: Public AI models do not have our latest university notifications, fee circulars, or syllabus. They can give incorrect dates or rules. Our system checks actual university documents first.</a:t>
            </a:r>
          </a:p>
          <a:p/>
          <a:p>
            <a:r>
              <a:t>=== IF EXAMINER ASKS WHERE THIS IS IMPLEMENTED ===</a:t>
            </a:r>
          </a:p>
          <a:p>
            <a:r>
              <a:t>Analysis documented in: docs/PROJECT_AUDIT_REPORT.md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I SHOULD SAY (30-60 SECONDS) ===</a:t>
            </a:r>
          </a:p>
          <a:p>
            <a:r>
              <a:t>Our proposed solution brings everything into one conversational interface. When a user sends a message, the orchestrator identifies whether it is a knowledge question, a student service request, or a complaint. It then directs the request to the correct part of the system and returns the response.</a:t>
            </a:r>
          </a:p>
          <a:p/>
          <a:p>
            <a:r>
              <a:t>=== EXAMINER FOLLOW-UPS &amp; SIMPLE ANSWERS ===</a:t>
            </a:r>
          </a:p>
          <a:p>
            <a:r>
              <a:t>Q: Does the AI answer everything directly?</a:t>
            </a:r>
          </a:p>
          <a:p>
            <a:r>
              <a:t>A: No. The AI only helps generate natural-language answers and drafts. Sensitive student data and results are fetched directly from our structured database to ensure accuracy.</a:t>
            </a:r>
          </a:p>
          <a:p/>
          <a:p>
            <a:r>
              <a:t>=== IF EXAMINER ASKS WHERE THIS IS IMPLEMENTED ===</a:t>
            </a:r>
          </a:p>
          <a:p>
            <a:r>
              <a:t>Orchestration engine: backend/app/orchestrator/engine.py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I SHOULD SAY (30-60 SECONDS) ===</a:t>
            </a:r>
          </a:p>
          <a:p>
            <a:r>
              <a:t>Here are the specific objectives of the project. On the left side are our AI and knowledge retrieval goals: building the RAG pipeline, running Llama locally, and adding voice search. On the right side are our student service and administrative goals: providing results, managing grievances, and securing student data.</a:t>
            </a:r>
          </a:p>
          <a:p/>
          <a:p>
            <a:r>
              <a:t>=== EXAMINER FOLLOW-UPS &amp; SIMPLE ANSWERS ===</a:t>
            </a:r>
          </a:p>
          <a:p>
            <a:r>
              <a:t>Q: Have all these objectives been implemented?</a:t>
            </a:r>
          </a:p>
          <a:p>
            <a:r>
              <a:t>A: Yes, all these objectives have been implemented in the codebase and verified with our test cases.</a:t>
            </a:r>
          </a:p>
          <a:p/>
          <a:p>
            <a:r>
              <a:t>=== IF EXAMINER ASKS WHERE THIS IS IMPLEMENTED ===</a:t>
            </a:r>
          </a:p>
          <a:p>
            <a:r>
              <a:t>Tested in: backend/tests/ (114+ passed tests across 21 test files)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I SHOULD SAY (30-60 SECONDS) ===</a:t>
            </a:r>
          </a:p>
          <a:p>
            <a:r>
              <a:t>This slide shows the main technologies used in our project. On the frontend, we used HTML, CSS, and clean JavaScript with Web Speech API. On the backend, we used Python with FastAPI. For AI, we used Llama 3.2 running through Ollama. For search, we used ChromaDB and BM25. And for data storage and security, we used SQLAlchemy with SQLite/Postgres, bcrypt, and JWT.</a:t>
            </a:r>
          </a:p>
          <a:p/>
          <a:p>
            <a:r>
              <a:t>=== EXAMINER FOLLOW-UPS &amp; SIMPLE ANSWERS ===</a:t>
            </a:r>
          </a:p>
          <a:p>
            <a:r>
              <a:t>Q: Why did you use FastAPI instead of Flask or Django?</a:t>
            </a:r>
          </a:p>
          <a:p>
            <a:r>
              <a:t>A: FastAPI is modern, very fast, and natively supports asynchronous operations, which makes streaming AI responses much smoother.</a:t>
            </a:r>
          </a:p>
          <a:p/>
          <a:p>
            <a:r>
              <a:t>=== IF EXAMINER ASKS WHERE THIS IS IMPLEMENTED ===</a:t>
            </a:r>
          </a:p>
          <a:p>
            <a:r>
              <a:t>Config file: backend/app/config.py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I SHOULD SAY (30-60 SECONDS) ===</a:t>
            </a:r>
          </a:p>
          <a:p>
            <a:r>
              <a:t>Here is the architecture of the system in four simple layers: 1) The user interface where students and staff interact. 2) The FastAPI backend that receives and validates requests. 3) The Orchestrator which understands the query and decides where to send it. 4) The core execution modules that fetch information, query the database, or talk to Llama.</a:t>
            </a:r>
          </a:p>
          <a:p/>
          <a:p>
            <a:r>
              <a:t>=== EXAMINER FOLLOW-UPS &amp; SIMPLE ANSWERS ===</a:t>
            </a:r>
          </a:p>
          <a:p>
            <a:r>
              <a:t>Q: What is the role of the Orchestrator?</a:t>
            </a:r>
          </a:p>
          <a:p>
            <a:r>
              <a:t>A: The Orchestrator is the central brain that figures out what the student wants—whether they are asking a question, checking results, or filing a complaint—and routes the request to the right module.</a:t>
            </a:r>
          </a:p>
          <a:p/>
          <a:p>
            <a:r>
              <a:t>=== IF EXAMINER ASKS WHERE THIS IS IMPLEMENTED ===</a:t>
            </a:r>
          </a:p>
          <a:p>
            <a:r>
              <a:t>Implementation: backend/app/orchestrator/engine.py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I SHOULD SAY (30-60 SECONDS) ===</a:t>
            </a:r>
          </a:p>
          <a:p>
            <a:r>
              <a:t>This slide shows the step-by-step lifecycle of a single user request: 1) The user inputs a message. 2) FastAPI receives it. 3) The Orchestrator analyzes the intent. 4) The chosen subsystem executes. 5) An answer or card is created. 6) The response is streamed back to the student's screen.</a:t>
            </a:r>
          </a:p>
          <a:p/>
          <a:p>
            <a:r>
              <a:t>=== EXAMINER FOLLOW-UPS &amp; SIMPLE ANSWERS ===</a:t>
            </a:r>
          </a:p>
          <a:p>
            <a:r>
              <a:t>Q: What is SSE (Server-Sent Events)?</a:t>
            </a:r>
          </a:p>
          <a:p>
            <a:r>
              <a:t>A: Server-Sent Events allow the server to send text tokens to the browser as they are being generated, so the student sees the answer appearing word by word without waiting for the whole paragraph to finish.</a:t>
            </a:r>
          </a:p>
          <a:p/>
          <a:p>
            <a:r>
              <a:t>=== IF EXAMINER ASKS WHERE THIS IS IMPLEMENTED ===</a:t>
            </a:r>
          </a:p>
          <a:p>
            <a:r>
              <a:t>Transport route: backend/app/chat/routes.py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I SHOULD SAY (30-60 SECONDS) ===</a:t>
            </a:r>
          </a:p>
          <a:p>
            <a:r>
              <a:t>Here we explain how AI works in our project. Llama is our language model that generates natural answers. Ollama is the software we use to run Llama locally. When a student asks a knowledge question, our backend first retrieves relevant university information and sends it along with the question to Ollama. Llama then writes the answer based on that information.</a:t>
            </a:r>
          </a:p>
          <a:p/>
          <a:p>
            <a:r>
              <a:t>=== EXAMINER FOLLOW-UPS &amp; SIMPLE ANSWERS ===</a:t>
            </a:r>
          </a:p>
          <a:p>
            <a:r>
              <a:t>Q: What happens if Ollama is not running?</a:t>
            </a:r>
          </a:p>
          <a:p>
            <a:r>
              <a:t>A: The backend catches the connection error and shows a clean fallback message with university helpdesk contacts, so the system does not crash.</a:t>
            </a:r>
          </a:p>
          <a:p/>
          <a:p>
            <a:r>
              <a:t>=== IF EXAMINER ASKS WHERE THIS IS IMPLEMENTED ===</a:t>
            </a:r>
          </a:p>
          <a:p>
            <a:r>
              <a:t>Implementation: backend/app/ingest/generator.py, config in backend/app/config.py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I SHOULD SAY (30-60 SECONDS) ===</a:t>
            </a:r>
          </a:p>
          <a:p>
            <a:r>
              <a:t>RAG stands for Retrieval-Augmented Generation. In simple words: instead of asking the AI to guess the answer from memory, RAG first searches our uploaded university documents, finds the relevant paragraphs, and gives them to Llama to write a clean answer. This ensures the answer is based on actual university notices.</a:t>
            </a:r>
          </a:p>
          <a:p/>
          <a:p>
            <a:r>
              <a:t>=== EXAMINER FOLLOW-UPS &amp; SIMPLE ANSWERS ===</a:t>
            </a:r>
          </a:p>
          <a:p>
            <a:r>
              <a:t>Q: What are embeddings?</a:t>
            </a:r>
          </a:p>
          <a:p>
            <a:r>
              <a:t>A: An embedding is converting words and sentences into numbers so that the system can mathematically compare how close two sentences are in meaning.</a:t>
            </a:r>
          </a:p>
          <a:p/>
          <a:p>
            <a:r>
              <a:t>=== IF EXAMINER ASKS WHERE THIS IS IMPLEMENTED ===</a:t>
            </a:r>
          </a:p>
          <a:p>
            <a:r>
              <a:t>Code: backend/app/ingest/retriever.py, backend/app/ingest/store.py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I SHOULD SAY (30-60 SECONDS) ===</a:t>
            </a:r>
          </a:p>
          <a:p>
            <a:r>
              <a:t>Why do we use Hybrid Search? Because sometimes students search using general words like 'tuition charges' (where meaning search works best), and sometimes they search for exact codes like 'BCA-101' (where keyword search BM25 works best). Combining both methods ensures we find the right information regardless of how the student asks.</a:t>
            </a:r>
          </a:p>
          <a:p/>
          <a:p>
            <a:r>
              <a:t>=== EXAMINER FOLLOW-UPS &amp; SIMPLE ANSWERS ===</a:t>
            </a:r>
          </a:p>
          <a:p>
            <a:r>
              <a:t>Q: What is BM25?</a:t>
            </a:r>
          </a:p>
          <a:p>
            <a:r>
              <a:t>A: BM25 is a standard keyword search algorithm that checks how frequently words appear in documents to find exact matching text.</a:t>
            </a:r>
          </a:p>
          <a:p/>
          <a:p>
            <a:r>
              <a:t>=== IF EXAMINER ASKS WHERE THIS IS IMPLEMENTED ===</a:t>
            </a:r>
          </a:p>
          <a:p>
            <a:r>
              <a:t>Implementation: backend/app/ingest/retriever.py (lines 248-320)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I SHOULD SAY (30-60 SECONDS) ===</a:t>
            </a:r>
          </a:p>
          <a:p>
            <a:r>
              <a:t>Here we show the 15 student services supported in our system. These cover high-frequency tasks like checking exam results, downloading admit cards, and viewing attendance, as well as formal requests like applying for xerox copies of answer scripts or re-evaluation.</a:t>
            </a:r>
          </a:p>
          <a:p/>
          <a:p>
            <a:r>
              <a:t>=== EXAMINER FOLLOW-UPS &amp; SIMPLE ANSWERS ===</a:t>
            </a:r>
          </a:p>
          <a:p>
            <a:r>
              <a:t>Q: Where does the student service data come from?</a:t>
            </a:r>
          </a:p>
          <a:p>
            <a:r>
              <a:t>A: It comes directly from our relational database tables through dedicated service connectors, not from the LLM.</a:t>
            </a:r>
          </a:p>
          <a:p/>
          <a:p>
            <a:r>
              <a:t>=== IF EXAMINER ASKS WHERE THIS IS IMPLEMENTED ===</a:t>
            </a:r>
          </a:p>
          <a:p>
            <a:r>
              <a:t>Connectors registered in: backend/app/services/registry.py, backend/app/services/demo_connectors.py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I SHOULD SAY (30-60 SECONDS) ===</a:t>
            </a:r>
          </a:p>
          <a:p>
            <a:r>
              <a:t>This slide explains how a student uses services inside the chat. When a student asks for 'Results', the bot prompts for their registration number and password. Once verified, the student chooses their semester, and their marks and grades appear as an interactive card. The login is remembered for the session, and typing 'logout' resets it.</a:t>
            </a:r>
          </a:p>
          <a:p/>
          <a:p>
            <a:r>
              <a:t>=== EXAMINER FOLLOW-UPS &amp; SIMPLE ANSWERS ===</a:t>
            </a:r>
          </a:p>
          <a:p>
            <a:r>
              <a:t>Q: Are student passwords stored in conversation logs?</a:t>
            </a:r>
          </a:p>
          <a:p>
            <a:r>
              <a:t>A: No. Passwords are never saved in logs, browser storage, or conversation state. Only a temporary in-memory session token is used.</a:t>
            </a:r>
          </a:p>
          <a:p/>
          <a:p>
            <a:r>
              <a:t>=== IF EXAMINER ASKS WHERE THIS IS IMPLEMENTED ===</a:t>
            </a:r>
          </a:p>
          <a:p>
            <a:r>
              <a:t>Implementation: backend/app/orchestrator/student_session.py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I SHOULD SAY (30-60 SECONDS) ===</a:t>
            </a:r>
          </a:p>
          <a:p>
            <a:r>
              <a:t>Here is the grievance redressal process: When a student complains about a problem, the chatbot opens the complaint composer. It offers optional AI formalization to turn informal notes into a formal complaint letter. The system recommends the right office, submits the complaint, gives the student a tracking reference number, and dispatches email notifications.</a:t>
            </a:r>
          </a:p>
          <a:p/>
          <a:p>
            <a:r>
              <a:t>=== EXAMINER FOLLOW-UPS &amp; SIMPLE ANSWERS ===</a:t>
            </a:r>
          </a:p>
          <a:p>
            <a:r>
              <a:t>Q: Can students submit complaints without using AI drafting?</a:t>
            </a:r>
          </a:p>
          <a:p>
            <a:r>
              <a:t>A: Yes. AI drafting is completely optional. The student can write their complaint manually or edit the AI draft freely before submitting.</a:t>
            </a:r>
          </a:p>
          <a:p/>
          <a:p>
            <a:r>
              <a:t>=== IF EXAMINER ASKS WHERE THIS IS IMPLEMENTED ===</a:t>
            </a:r>
          </a:p>
          <a:p>
            <a:r>
              <a:t>Implementation: backend/app/grievance/intake.py, backend/app/authority/matcher.py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I SHOULD SAY (30-60 SECONDS) ===</a:t>
            </a:r>
          </a:p>
          <a:p>
            <a:r>
              <a:t>We built two separate administrative panels: The Super Admin panel is for central administrators to upload documents, manage courses, and view system health. The Authority Admin portal is for specific department heads—like the Controller of Examinations. Each department only sees complaints assigned to their office and can respond directly to students.</a:t>
            </a:r>
          </a:p>
          <a:p/>
          <a:p>
            <a:r>
              <a:t>=== EXAMINER FOLLOW-UPS &amp; SIMPLE ANSWERS ===</a:t>
            </a:r>
          </a:p>
          <a:p>
            <a:r>
              <a:t>Q: How is authority data kept isolated?</a:t>
            </a:r>
          </a:p>
          <a:p>
            <a:r>
              <a:t>A: The backend checks the logged-in user's authority ID on the server. An authority admin cannot view or modify complaints belonging to another office.</a:t>
            </a:r>
          </a:p>
          <a:p/>
          <a:p>
            <a:r>
              <a:t>=== IF EXAMINER ASKS WHERE THIS IS IMPLEMENTED ===</a:t>
            </a:r>
          </a:p>
          <a:p>
            <a:r>
              <a:t>Routes: backend/app/admin/routes.py, backend/app/authority_admin/portal.py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I SHOULD SAY (30-60 SECONDS) ===</a:t>
            </a:r>
          </a:p>
          <a:p>
            <a:r>
              <a:t>Voice input makes the chatbot easier to use on mobile devices. The student presses and holds the mic icon, speaks their question, and on release, the speech is converted into text and processed by the chatbot. A key advantage is that voice converts speech to text in the browser, so our backend stays fast and simple.</a:t>
            </a:r>
          </a:p>
          <a:p/>
          <a:p>
            <a:r>
              <a:t>=== EXAMINER FOLLOW-UPS &amp; SIMPLE ANSWERS ===</a:t>
            </a:r>
          </a:p>
          <a:p>
            <a:r>
              <a:t>Q: Does the backend need special audio AI models?</a:t>
            </a:r>
          </a:p>
          <a:p>
            <a:r>
              <a:t>A: No. The browser converts speech to text using the Web Speech API, and the text is passed to our existing backend pipeline.</a:t>
            </a:r>
          </a:p>
          <a:p/>
          <a:p>
            <a:r>
              <a:t>=== IF EXAMINER ASKS WHERE THIS IS IMPLEMENTED ===</a:t>
            </a:r>
          </a:p>
          <a:p>
            <a:r>
              <a:t>Frontend code: frontend/js/chatbot.js (lines 1525-1718)</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I SHOULD SAY (30-60 SECONDS) ===</a:t>
            </a:r>
          </a:p>
          <a:p>
            <a:r>
              <a:t>Security is an essential part of the project. We hash all passwords using bcrypt, use JWT tokens for login sessions, enforce role permissions on every API route, and apply rate limiting to prevent spam. Student complaint tracking tokens are also securely hashed using SHA-256.</a:t>
            </a:r>
          </a:p>
          <a:p/>
          <a:p>
            <a:r>
              <a:t>=== EXAMINER FOLLOW-UPS &amp; SIMPLE ANSWERS ===</a:t>
            </a:r>
          </a:p>
          <a:p>
            <a:r>
              <a:t>Q: What is a JWT token?</a:t>
            </a:r>
          </a:p>
          <a:p>
            <a:r>
              <a:t>A: JWT stands for JSON Web Token. It is a secure, digitally signed token given to a user after login to verify their identity on subsequent requests.</a:t>
            </a:r>
          </a:p>
          <a:p/>
          <a:p>
            <a:r>
              <a:t>=== IF EXAMINER ASKS WHERE THIS IS IMPLEMENTED ===</a:t>
            </a:r>
          </a:p>
          <a:p>
            <a:r>
              <a:t>Security implementation: backend/app/auth/security.py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I SHOULD SAY (30-60 SECONDS) ===</a:t>
            </a:r>
          </a:p>
          <a:p>
            <a:r>
              <a:t>Our data is stored in two complementary systems: First, a relational database with 23 tables managed by SQLAlchemy, which stores user accounts, student marks, attendance, and grievances. Second, ChromaDB, which stores text embeddings of university documents for fast searching.</a:t>
            </a:r>
          </a:p>
          <a:p/>
          <a:p>
            <a:r>
              <a:t>=== EXAMINER FOLLOW-UPS &amp; SIMPLE ANSWERS ===</a:t>
            </a:r>
          </a:p>
          <a:p>
            <a:r>
              <a:t>Q: Why do you need both SQL and ChromaDB?</a:t>
            </a:r>
          </a:p>
          <a:p>
            <a:r>
              <a:t>A: SQL is best for structured data like student marks and login accounts. ChromaDB is designed specifically for searching through unstructured text documents using AI embeddings.</a:t>
            </a:r>
          </a:p>
          <a:p/>
          <a:p>
            <a:r>
              <a:t>=== IF EXAMINER ASKS WHERE THIS IS IMPLEMENTED ===</a:t>
            </a:r>
          </a:p>
          <a:p>
            <a:r>
              <a:t>Models: backend/app/models/__init__.py, backend/app/grievance/models.py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I SHOULD SAY (30-60 SECONDS) ===</a:t>
            </a:r>
          </a:p>
          <a:p>
            <a:r>
              <a:t>We tested the application thoroughly using automated test suites. We tested API routes, login security, student service connectors, and grievance workflows. During testing, we fixed several important issues, such as making sure LLM streaming doesn't block other users and ensuring database queries run smoothly in the background.</a:t>
            </a:r>
          </a:p>
          <a:p/>
          <a:p>
            <a:r>
              <a:t>=== EXAMINER FOLLOW-UPS &amp; SIMPLE ANSWERS ===</a:t>
            </a:r>
          </a:p>
          <a:p>
            <a:r>
              <a:t>Q: How did you test the backend?</a:t>
            </a:r>
          </a:p>
          <a:p>
            <a:r>
              <a:t>A: We used pytest to run automated tests for API endpoints, role permissions, RAG retrieval, and database connectors.</a:t>
            </a:r>
          </a:p>
          <a:p/>
          <a:p>
            <a:r>
              <a:t>=== IF EXAMINER ASKS WHERE THIS IS IMPLEMENTED ===</a:t>
            </a:r>
          </a:p>
          <a:p>
            <a:r>
              <a:t>Test suite: backend/tests/ (21 test files)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I SHOULD SAY (30-60 SECONDS) ===</a:t>
            </a:r>
          </a:p>
          <a:p>
            <a:r>
              <a:t>During development, we faced several technical challenges: 1) AI hallucination was solved with RAG. 2) Slow generation was solved with async streaming. 3) Exact course codes were solved with BM25 hybrid search. 4) Privacy concerns were solved by running Llama locally. 5) Poorly formatted complaints were improved with AI drafting assistance.</a:t>
            </a:r>
          </a:p>
          <a:p/>
          <a:p>
            <a:r>
              <a:t>=== EXAMINER FOLLOW-UPS &amp; SIMPLE ANSWERS ===</a:t>
            </a:r>
          </a:p>
          <a:p>
            <a:r>
              <a:t>Q: What was the hardest bug you solved?</a:t>
            </a:r>
          </a:p>
          <a:p>
            <a:r>
              <a:t>A: Ensuring that synchronous retrieval and database queries did not block the asynchronous event loop when multiple users were chatting at the same time.</a:t>
            </a:r>
          </a:p>
          <a:p/>
          <a:p>
            <a:r>
              <a:t>=== IF EXAMINER ASKS WHERE THIS IS IMPLEMENTED ===</a:t>
            </a:r>
          </a:p>
          <a:p>
            <a:r>
              <a:t>Documented in: docs/PROJECT_AUDIT_REPORT.md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I SHOULD SAY (30-60 SECONDS) ===</a:t>
            </a:r>
          </a:p>
          <a:p>
            <a:r>
              <a:t>Respected examiners, I can now demonstrate these 5 live workflows: 1) Asking a university question to see RAG in action. 2) Logging in to view semester results. 3) Filing a grievance with AI drafting. 4) Asking a question using voice search. 5) Logging into the Authority Admin dashboard to review the complaint.</a:t>
            </a:r>
          </a:p>
          <a:p/>
          <a:p>
            <a:r>
              <a:t>=== EXAMINER FOLLOW-UPS &amp; SIMPLE ANSWERS ===</a:t>
            </a:r>
          </a:p>
          <a:p>
            <a:r>
              <a:t>Q: Can we see the live demo now?</a:t>
            </a:r>
          </a:p>
          <a:p>
            <a:r>
              <a:t>A: Yes, I have the local server running and can demonstrate any of these 5 modules immediately.</a:t>
            </a:r>
          </a:p>
          <a:p/>
          <a:p>
            <a:r>
              <a:t>=== IF EXAMINER ASKS WHERE THIS IS IMPLEMENTED ===</a:t>
            </a:r>
          </a:p>
          <a:p>
            <a:r>
              <a:t>Frontend URLs: http://localhost:8000/ and http://localhost:8000/authority-admin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I SHOULD SAY (30-60 SECONDS) ===</a:t>
            </a:r>
          </a:p>
          <a:p>
            <a:r>
              <a:t>Here are realistic future enhancements for CUS AI Assistant: 1) Direct integration with the university's live ERP server. 2) Multilingual support in Kashmiri and Urdu. 3) Spoken voice answers using Text-to-Speech. 4) A mobile application with SMS/WhatsApp updates.</a:t>
            </a:r>
          </a:p>
          <a:p/>
          <a:p>
            <a:r>
              <a:t>=== EXAMINER FOLLOW-UPS &amp; SIMPLE ANSWERS ===</a:t>
            </a:r>
          </a:p>
          <a:p>
            <a:r>
              <a:t>Q: How difficult would it be to connect to the live ERP?</a:t>
            </a:r>
          </a:p>
          <a:p>
            <a:r>
              <a:t>A: Our service connectors are already structured to call external REST APIs; we would simply configure the API endpoints and keys in the connector classes.</a:t>
            </a:r>
          </a:p>
          <a:p/>
          <a:p>
            <a:r>
              <a:t>=== IF EXAMINER ASKS WHERE THIS IS IMPLEMENTED ===</a:t>
            </a:r>
          </a:p>
          <a:p>
            <a:r>
              <a:t>Future guide: docs/EXTENSION_GUIDE.md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I SHOULD SAY (30-60 SECONDS) ===</a:t>
            </a:r>
          </a:p>
          <a:p>
            <a:r>
              <a:t>In conclusion, CUS AI Assistant solves real communication and service challenges at Cluster University Srinagar. It makes finding information faster, simplifies student service access, and improves grievance redressal, all while running securely on local infrastructure.</a:t>
            </a:r>
          </a:p>
          <a:p/>
          <a:p>
            <a:r>
              <a:t>=== EXAMINER FOLLOW-UPS &amp; SIMPLE ANSWERS ===</a:t>
            </a:r>
          </a:p>
          <a:p>
            <a:r>
              <a:t>Q: What is the main takeaway of your project?</a:t>
            </a:r>
          </a:p>
          <a:p>
            <a:r>
              <a:t>A: That AI can be combined with structured databases and deterministic rules to create a practical, reliable, and secure assistant for university students.</a:t>
            </a:r>
          </a:p>
          <a:p/>
          <a:p>
            <a:r>
              <a:t>=== IF EXAMINER ASKS WHERE THIS IS IMPLEMENTED ===</a:t>
            </a:r>
          </a:p>
          <a:p>
            <a:r>
              <a:t>Codebase: CUS AI Assistant Repository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I SHOULD SAY (30-60 SECONDS) ===</a:t>
            </a:r>
          </a:p>
          <a:p>
            <a:r>
              <a:t>Thank you very much respected examiners and teachers. I am now ready for questions and discussions, and I would be glad to show a live demonstration of the project.</a:t>
            </a:r>
          </a:p>
          <a:p/>
          <a:p>
            <a:r>
              <a:t>=== EXAMINER FOLLOW-UPS &amp; SIMPLE ANSWERS ===</a:t>
            </a:r>
          </a:p>
          <a:p>
            <a:r>
              <a:t>Be confident, speak calmly, and point to the live demo or source code files when answering examiner questions.</a:t>
            </a:r>
          </a:p>
          <a:p/>
          <a:p>
            <a:r>
              <a:t>=== IF EXAMINER ASKS WHERE THIS IS IMPLEMENTED ===</a:t>
            </a:r>
          </a:p>
          <a:p>
            <a:r>
              <a:t>Repository root: CUS-AI-BOT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822960"/>
            <a:ext cx="10728655" cy="2103120"/>
          </a:xfrm>
          <a:prstGeom prst="rect">
            <a:avLst/>
          </a:prstGeom>
          <a:noFill/>
        </p:spPr>
        <p:txBody>
          <a:bodyPr wrap="square">
            <a:spAutoFit/>
          </a:bodyPr>
          <a:lstStyle/>
          <a:p>
            <a:pPr>
              <a:spcAft>
                <a:spcPts val="600"/>
              </a:spcAft>
              <a:defRPr sz="1400" b="1">
                <a:solidFill>
                  <a:srgbClr val="0E7490"/>
                </a:solidFill>
              </a:defRPr>
            </a:pPr>
            <a:r>
              <a:t>MCA PROJECT INTERNAL EXAMINATION</a:t>
            </a:r>
          </a:p>
          <a:p>
            <a:pPr>
              <a:spcAft>
                <a:spcPts val="800"/>
              </a:spcAft>
              <a:defRPr sz="3600" b="1">
                <a:solidFill>
                  <a:srgbClr val="FFFFFF"/>
                </a:solidFill>
              </a:defRPr>
            </a:pPr>
            <a:r>
              <a:t>CUS AI Assistant</a:t>
            </a:r>
          </a:p>
          <a:p>
            <a:pPr>
              <a:defRPr sz="2000">
                <a:solidFill>
                  <a:srgbClr val="CBD5E1"/>
                </a:solidFill>
              </a:defRPr>
            </a:pPr>
            <a:r>
              <a:t>AI-Powered University Student Assistance &amp; Information System</a:t>
            </a:r>
          </a:p>
        </p:txBody>
      </p:sp>
      <p:sp>
        <p:nvSpPr>
          <p:cNvPr id="4" name="Rounded Rectangle 3"/>
          <p:cNvSpPr/>
          <p:nvPr/>
        </p:nvSpPr>
        <p:spPr>
          <a:xfrm>
            <a:off x="731520" y="3200400"/>
            <a:ext cx="5212080" cy="31089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3383280"/>
            <a:ext cx="4663440" cy="2743200"/>
          </a:xfrm>
          <a:prstGeom prst="rect">
            <a:avLst/>
          </a:prstGeom>
          <a:noFill/>
        </p:spPr>
        <p:txBody>
          <a:bodyPr wrap="square">
            <a:spAutoFit/>
          </a:bodyPr>
          <a:lstStyle/>
          <a:p>
            <a:pPr>
              <a:spcAft>
                <a:spcPts val="1000"/>
              </a:spcAft>
              <a:defRPr sz="1800" b="1">
                <a:solidFill>
                  <a:srgbClr val="0E7490"/>
                </a:solidFill>
              </a:defRPr>
            </a:pPr>
            <a:r>
              <a:t>Student Details</a:t>
            </a:r>
          </a:p>
          <a:p>
            <a:pPr>
              <a:spcAft>
                <a:spcPts val="500"/>
              </a:spcAft>
              <a:defRPr sz="1400" b="1">
                <a:solidFill>
                  <a:srgbClr val="FFFFFF"/>
                </a:solidFill>
              </a:defRPr>
            </a:pPr>
            <a:r>
              <a:t>Course: </a:t>
            </a:r>
            <a:r>
              <a:rPr b="0">
                <a:solidFill>
                  <a:srgbClr val="E2E8F0"/>
                </a:solidFill>
              </a:rPr>
              <a:t>Master of Computer Applications (MCA)</a:t>
            </a:r>
          </a:p>
          <a:p>
            <a:pPr>
              <a:spcAft>
                <a:spcPts val="500"/>
              </a:spcAft>
              <a:defRPr sz="1400" b="1">
                <a:solidFill>
                  <a:srgbClr val="FFFFFF"/>
                </a:solidFill>
              </a:defRPr>
            </a:pPr>
            <a:r>
              <a:t>Student Name: </a:t>
            </a:r>
            <a:r>
              <a:rPr b="0">
                <a:solidFill>
                  <a:srgbClr val="E2E8F0"/>
                </a:solidFill>
              </a:rPr>
              <a:t>Student Presenter</a:t>
            </a:r>
          </a:p>
          <a:p>
            <a:pPr>
              <a:spcAft>
                <a:spcPts val="500"/>
              </a:spcAft>
              <a:defRPr sz="1400" b="1">
                <a:solidFill>
                  <a:srgbClr val="FFFFFF"/>
                </a:solidFill>
              </a:defRPr>
            </a:pPr>
            <a:r>
              <a:t>Roll Number: </a:t>
            </a:r>
            <a:r>
              <a:rPr b="0">
                <a:solidFill>
                  <a:srgbClr val="E2E8F0"/>
                </a:solidFill>
              </a:rPr>
              <a:t>MCA-Session-2024 / CUS</a:t>
            </a:r>
          </a:p>
          <a:p>
            <a:pPr>
              <a:spcAft>
                <a:spcPts val="500"/>
              </a:spcAft>
              <a:defRPr sz="1400" b="1">
                <a:solidFill>
                  <a:srgbClr val="FFFFFF"/>
                </a:solidFill>
              </a:defRPr>
            </a:pPr>
            <a:r>
              <a:t>Department: </a:t>
            </a:r>
            <a:r>
              <a:rPr b="0">
                <a:solidFill>
                  <a:srgbClr val="E2E8F0"/>
                </a:solidFill>
              </a:rPr>
              <a:t>Department of Computer Applications</a:t>
            </a:r>
          </a:p>
          <a:p>
            <a:pPr>
              <a:spcAft>
                <a:spcPts val="500"/>
              </a:spcAft>
              <a:defRPr sz="1400" b="1">
                <a:solidFill>
                  <a:srgbClr val="FFFFFF"/>
                </a:solidFill>
              </a:defRPr>
            </a:pPr>
            <a:r>
              <a:t>University: </a:t>
            </a:r>
            <a:r>
              <a:rPr b="0">
                <a:solidFill>
                  <a:srgbClr val="E2E8F0"/>
                </a:solidFill>
              </a:rPr>
              <a:t>Cluster University Srinagar (CUS)</a:t>
            </a:r>
          </a:p>
        </p:txBody>
      </p:sp>
      <p:sp>
        <p:nvSpPr>
          <p:cNvPr id="6" name="Rounded Rectangle 5"/>
          <p:cNvSpPr/>
          <p:nvPr/>
        </p:nvSpPr>
        <p:spPr>
          <a:xfrm>
            <a:off x="6217920" y="3200400"/>
            <a:ext cx="5212080" cy="31089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3383280"/>
            <a:ext cx="4663440" cy="2743200"/>
          </a:xfrm>
          <a:prstGeom prst="rect">
            <a:avLst/>
          </a:prstGeom>
          <a:noFill/>
        </p:spPr>
        <p:txBody>
          <a:bodyPr wrap="square">
            <a:spAutoFit/>
          </a:bodyPr>
          <a:lstStyle/>
          <a:p>
            <a:pPr>
              <a:spcAft>
                <a:spcPts val="1000"/>
              </a:spcAft>
              <a:defRPr sz="1800" b="1">
                <a:solidFill>
                  <a:srgbClr val="059669"/>
                </a:solidFill>
              </a:defRPr>
            </a:pPr>
            <a:r>
              <a:t>Project Highlights</a:t>
            </a:r>
          </a:p>
          <a:p>
            <a:pPr>
              <a:spcAft>
                <a:spcPts val="500"/>
              </a:spcAft>
              <a:defRPr sz="1400" b="1">
                <a:solidFill>
                  <a:srgbClr val="FFFFFF"/>
                </a:solidFill>
              </a:defRPr>
            </a:pPr>
            <a:r>
              <a:t>Project Guide: </a:t>
            </a:r>
            <a:r>
              <a:rPr b="0">
                <a:solidFill>
                  <a:srgbClr val="E2E8F0"/>
                </a:solidFill>
              </a:rPr>
              <a:t>Internal Project Supervisor</a:t>
            </a:r>
          </a:p>
          <a:p>
            <a:pPr>
              <a:spcAft>
                <a:spcPts val="500"/>
              </a:spcAft>
              <a:defRPr sz="1400" b="1">
                <a:solidFill>
                  <a:srgbClr val="FFFFFF"/>
                </a:solidFill>
              </a:defRPr>
            </a:pPr>
            <a:r>
              <a:t>Core Function: </a:t>
            </a:r>
            <a:r>
              <a:rPr b="0">
                <a:solidFill>
                  <a:srgbClr val="E2E8F0"/>
                </a:solidFill>
              </a:rPr>
              <a:t>Unified AI Chatbot for University Information</a:t>
            </a:r>
          </a:p>
          <a:p>
            <a:pPr>
              <a:spcAft>
                <a:spcPts val="500"/>
              </a:spcAft>
              <a:defRPr sz="1400" b="1">
                <a:solidFill>
                  <a:srgbClr val="FFFFFF"/>
                </a:solidFill>
              </a:defRPr>
            </a:pPr>
            <a:r>
              <a:t>Local AI Model: </a:t>
            </a:r>
            <a:r>
              <a:rPr b="0">
                <a:solidFill>
                  <a:srgbClr val="E2E8F0"/>
                </a:solidFill>
              </a:rPr>
              <a:t>Llama 3.2 running locally through Ollama</a:t>
            </a:r>
          </a:p>
          <a:p>
            <a:pPr>
              <a:spcAft>
                <a:spcPts val="500"/>
              </a:spcAft>
              <a:defRPr sz="1400" b="1">
                <a:solidFill>
                  <a:srgbClr val="FFFFFF"/>
                </a:solidFill>
              </a:defRPr>
            </a:pPr>
            <a:r>
              <a:t>Knowledge Method: </a:t>
            </a:r>
            <a:r>
              <a:rPr b="0">
                <a:solidFill>
                  <a:srgbClr val="E2E8F0"/>
                </a:solidFill>
              </a:rPr>
              <a:t>RAG (Retrieval-Augmented Generation)</a:t>
            </a:r>
          </a:p>
          <a:p>
            <a:pPr>
              <a:spcAft>
                <a:spcPts val="500"/>
              </a:spcAft>
              <a:defRPr sz="1400" b="1">
                <a:solidFill>
                  <a:srgbClr val="FFFFFF"/>
                </a:solidFill>
              </a:defRPr>
            </a:pPr>
            <a:r>
              <a:t>Key Features: </a:t>
            </a:r>
            <a:r>
              <a:rPr b="0">
                <a:solidFill>
                  <a:srgbClr val="E2E8F0"/>
                </a:solidFill>
              </a:rPr>
              <a:t>15 Student Services + Grievance Redressal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300" b="1">
                <a:solidFill>
                  <a:srgbClr val="1D4ED8"/>
                </a:solidFill>
              </a:defRPr>
            </a:pPr>
            <a:r>
              <a:t>OVERVIEW</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3000" b="1">
                <a:solidFill>
                  <a:srgbClr val="0F172A"/>
                </a:solidFill>
              </a:defRPr>
            </a:pPr>
            <a:r>
              <a:t>Introduction: What is CUS AI Assistant?</a:t>
            </a:r>
          </a:p>
        </p:txBody>
      </p:sp>
      <p:sp>
        <p:nvSpPr>
          <p:cNvPr id="4" name="Rounded Rectangle 3"/>
          <p:cNvSpPr/>
          <p:nvPr/>
        </p:nvSpPr>
        <p:spPr>
          <a:xfrm>
            <a:off x="731520" y="1371600"/>
            <a:ext cx="3328416"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425696" y="1371600"/>
            <a:ext cx="3328416"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119872" y="1371600"/>
            <a:ext cx="3328416"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00200"/>
            <a:ext cx="2871216" cy="4480560"/>
          </a:xfrm>
          <a:prstGeom prst="rect">
            <a:avLst/>
          </a:prstGeom>
          <a:noFill/>
        </p:spPr>
        <p:txBody>
          <a:bodyPr wrap="square">
            <a:spAutoFit/>
          </a:bodyPr>
          <a:lstStyle/>
          <a:p>
            <a:pPr>
              <a:spcAft>
                <a:spcPts val="400"/>
              </a:spcAft>
              <a:defRPr sz="1200" b="1">
                <a:solidFill>
                  <a:srgbClr val="1D4ED8"/>
                </a:solidFill>
              </a:defRPr>
            </a:pPr>
            <a:r>
              <a:t>DEFINITION</a:t>
            </a:r>
          </a:p>
          <a:p>
            <a:pPr>
              <a:spcAft>
                <a:spcPts val="1400"/>
              </a:spcAft>
              <a:defRPr sz="2000" b="1">
                <a:solidFill>
                  <a:srgbClr val="0F172A"/>
                </a:solidFill>
              </a:defRPr>
            </a:pPr>
            <a:r>
              <a:t>What is it?</a:t>
            </a:r>
          </a:p>
          <a:p>
            <a:pPr>
              <a:spcAft>
                <a:spcPts val="1000"/>
              </a:spcAft>
              <a:defRPr sz="1400" b="1">
                <a:solidFill>
                  <a:srgbClr val="0F172A"/>
                </a:solidFill>
              </a:defRPr>
            </a:pPr>
            <a:r>
              <a:t>• Central Chatbot: </a:t>
            </a:r>
            <a:r>
              <a:rPr b="0">
                <a:solidFill>
                  <a:srgbClr val="475569"/>
                </a:solidFill>
              </a:rPr>
              <a:t>A helpful AI assistant created for Cluster University Srinagar.</a:t>
            </a:r>
          </a:p>
          <a:p>
            <a:pPr>
              <a:spcAft>
                <a:spcPts val="1000"/>
              </a:spcAft>
              <a:defRPr sz="1400" b="1">
                <a:solidFill>
                  <a:srgbClr val="0F172A"/>
                </a:solidFill>
              </a:defRPr>
            </a:pPr>
            <a:r>
              <a:t>• One Stop: </a:t>
            </a:r>
            <a:r>
              <a:rPr b="0">
                <a:solidFill>
                  <a:srgbClr val="475569"/>
                </a:solidFill>
              </a:rPr>
              <a:t>Combines notices, syllabus, student records, and complaints in one place.</a:t>
            </a:r>
          </a:p>
          <a:p>
            <a:pPr>
              <a:spcAft>
                <a:spcPts val="1000"/>
              </a:spcAft>
              <a:defRPr sz="1400" b="1">
                <a:solidFill>
                  <a:srgbClr val="0F172A"/>
                </a:solidFill>
              </a:defRPr>
            </a:pPr>
            <a:r>
              <a:t>• Simple to Use: </a:t>
            </a:r>
            <a:r>
              <a:rPr b="0">
                <a:solidFill>
                  <a:srgbClr val="475569"/>
                </a:solidFill>
              </a:rPr>
              <a:t>Students can type questions or use voice to speak.</a:t>
            </a:r>
          </a:p>
        </p:txBody>
      </p:sp>
      <p:sp>
        <p:nvSpPr>
          <p:cNvPr id="8" name="TextBox 7"/>
          <p:cNvSpPr txBox="1"/>
          <p:nvPr/>
        </p:nvSpPr>
        <p:spPr>
          <a:xfrm>
            <a:off x="4654296" y="1600200"/>
            <a:ext cx="2871216" cy="4480560"/>
          </a:xfrm>
          <a:prstGeom prst="rect">
            <a:avLst/>
          </a:prstGeom>
          <a:noFill/>
        </p:spPr>
        <p:txBody>
          <a:bodyPr wrap="square">
            <a:spAutoFit/>
          </a:bodyPr>
          <a:lstStyle/>
          <a:p>
            <a:pPr>
              <a:spcAft>
                <a:spcPts val="400"/>
              </a:spcAft>
              <a:defRPr sz="1200" b="1">
                <a:solidFill>
                  <a:srgbClr val="0E7490"/>
                </a:solidFill>
              </a:defRPr>
            </a:pPr>
            <a:r>
              <a:t>USERS</a:t>
            </a:r>
          </a:p>
          <a:p>
            <a:pPr>
              <a:spcAft>
                <a:spcPts val="1400"/>
              </a:spcAft>
              <a:defRPr sz="2000" b="1">
                <a:solidFill>
                  <a:srgbClr val="0F172A"/>
                </a:solidFill>
              </a:defRPr>
            </a:pPr>
            <a:r>
              <a:t>Who is it for?</a:t>
            </a:r>
          </a:p>
          <a:p>
            <a:pPr>
              <a:spcAft>
                <a:spcPts val="1000"/>
              </a:spcAft>
              <a:defRPr sz="1400" b="1">
                <a:solidFill>
                  <a:srgbClr val="0F172A"/>
                </a:solidFill>
              </a:defRPr>
            </a:pPr>
            <a:r>
              <a:t>• Students: </a:t>
            </a:r>
            <a:r>
              <a:rPr b="0">
                <a:solidFill>
                  <a:srgbClr val="475569"/>
                </a:solidFill>
              </a:rPr>
              <a:t>To check admission rules, exam results, fees, and syllabus.</a:t>
            </a:r>
          </a:p>
          <a:p>
            <a:pPr>
              <a:spcAft>
                <a:spcPts val="1000"/>
              </a:spcAft>
              <a:defRPr sz="1400" b="1">
                <a:solidFill>
                  <a:srgbClr val="0F172A"/>
                </a:solidFill>
              </a:defRPr>
            </a:pPr>
            <a:r>
              <a:t>• College Offices: </a:t>
            </a:r>
            <a:r>
              <a:rPr b="0">
                <a:solidFill>
                  <a:srgbClr val="475569"/>
                </a:solidFill>
              </a:rPr>
              <a:t>To view and resolve student grievances assigned to them.</a:t>
            </a:r>
          </a:p>
          <a:p>
            <a:pPr>
              <a:spcAft>
                <a:spcPts val="1000"/>
              </a:spcAft>
              <a:defRPr sz="1400" b="1">
                <a:solidFill>
                  <a:srgbClr val="0F172A"/>
                </a:solidFill>
              </a:defRPr>
            </a:pPr>
            <a:r>
              <a:t>• Administrators: </a:t>
            </a:r>
            <a:r>
              <a:rPr b="0">
                <a:solidFill>
                  <a:srgbClr val="475569"/>
                </a:solidFill>
              </a:rPr>
              <a:t>To upload new circulars, sync website data, and view usage.</a:t>
            </a:r>
          </a:p>
        </p:txBody>
      </p:sp>
      <p:sp>
        <p:nvSpPr>
          <p:cNvPr id="9" name="TextBox 8"/>
          <p:cNvSpPr txBox="1"/>
          <p:nvPr/>
        </p:nvSpPr>
        <p:spPr>
          <a:xfrm>
            <a:off x="8348472" y="1600200"/>
            <a:ext cx="2871216" cy="4480560"/>
          </a:xfrm>
          <a:prstGeom prst="rect">
            <a:avLst/>
          </a:prstGeom>
          <a:noFill/>
        </p:spPr>
        <p:txBody>
          <a:bodyPr wrap="square">
            <a:spAutoFit/>
          </a:bodyPr>
          <a:lstStyle/>
          <a:p>
            <a:pPr>
              <a:spcAft>
                <a:spcPts val="400"/>
              </a:spcAft>
              <a:defRPr sz="1200" b="1">
                <a:solidFill>
                  <a:srgbClr val="059669"/>
                </a:solidFill>
              </a:defRPr>
            </a:pPr>
            <a:r>
              <a:t>VALUE</a:t>
            </a:r>
          </a:p>
          <a:p>
            <a:pPr>
              <a:spcAft>
                <a:spcPts val="1400"/>
              </a:spcAft>
              <a:defRPr sz="2000" b="1">
                <a:solidFill>
                  <a:srgbClr val="0F172A"/>
                </a:solidFill>
              </a:defRPr>
            </a:pPr>
            <a:r>
              <a:t>Key Benefits</a:t>
            </a:r>
          </a:p>
          <a:p>
            <a:pPr>
              <a:spcAft>
                <a:spcPts val="1000"/>
              </a:spcAft>
              <a:defRPr sz="1400" b="1">
                <a:solidFill>
                  <a:srgbClr val="0F172A"/>
                </a:solidFill>
              </a:defRPr>
            </a:pPr>
            <a:r>
              <a:t>• Accurate Answers: </a:t>
            </a:r>
            <a:r>
              <a:rPr b="0">
                <a:solidFill>
                  <a:srgbClr val="475569"/>
                </a:solidFill>
              </a:rPr>
              <a:t>Uses official university documents to answer questions.</a:t>
            </a:r>
          </a:p>
          <a:p>
            <a:pPr>
              <a:spcAft>
                <a:spcPts val="1000"/>
              </a:spcAft>
              <a:defRPr sz="1400" b="1">
                <a:solidFill>
                  <a:srgbClr val="0F172A"/>
                </a:solidFill>
              </a:defRPr>
            </a:pPr>
            <a:r>
              <a:t>• Saves Time: </a:t>
            </a:r>
            <a:r>
              <a:rPr b="0">
                <a:solidFill>
                  <a:srgbClr val="475569"/>
                </a:solidFill>
              </a:rPr>
              <a:t>Reduces the need to visit offices or search multiple websites.</a:t>
            </a:r>
          </a:p>
          <a:p>
            <a:pPr>
              <a:spcAft>
                <a:spcPts val="1000"/>
              </a:spcAft>
              <a:defRPr sz="1400" b="1">
                <a:solidFill>
                  <a:srgbClr val="0F172A"/>
                </a:solidFill>
              </a:defRPr>
            </a:pPr>
            <a:r>
              <a:t>• Always Available: </a:t>
            </a:r>
            <a:r>
              <a:rPr b="0">
                <a:solidFill>
                  <a:srgbClr val="475569"/>
                </a:solidFill>
              </a:rPr>
              <a:t>Students can ask questions 24/7 from mobile or PC.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300" b="1">
                <a:solidFill>
                  <a:srgbClr val="1D4ED8"/>
                </a:solidFill>
              </a:defRPr>
            </a:pPr>
            <a:r>
              <a:t>BACKGROUND</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3000" b="1">
                <a:solidFill>
                  <a:srgbClr val="0F172A"/>
                </a:solidFill>
              </a:defRPr>
            </a:pPr>
            <a:r>
              <a:t>Problem Statement: Common Issues Faced by Students</a:t>
            </a:r>
          </a:p>
        </p:txBody>
      </p:sp>
      <p:sp>
        <p:nvSpPr>
          <p:cNvPr id="4" name="Rounded Rectangle 3"/>
          <p:cNvSpPr/>
          <p:nvPr/>
        </p:nvSpPr>
        <p:spPr>
          <a:xfrm>
            <a:off x="731520" y="1371600"/>
            <a:ext cx="5166360" cy="23317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291072" y="1371600"/>
            <a:ext cx="5166360" cy="23317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931920"/>
            <a:ext cx="5166360" cy="23317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91072" y="3931920"/>
            <a:ext cx="5166360" cy="23317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54480"/>
            <a:ext cx="4709160" cy="1965960"/>
          </a:xfrm>
          <a:prstGeom prst="rect">
            <a:avLst/>
          </a:prstGeom>
          <a:noFill/>
        </p:spPr>
        <p:txBody>
          <a:bodyPr wrap="square">
            <a:spAutoFit/>
          </a:bodyPr>
          <a:lstStyle/>
          <a:p>
            <a:pPr>
              <a:spcAft>
                <a:spcPts val="800"/>
              </a:spcAft>
              <a:defRPr sz="1800" b="1">
                <a:solidFill>
                  <a:srgbClr val="0F172A"/>
                </a:solidFill>
              </a:defRPr>
            </a:pPr>
            <a:r>
              <a:t>01. Scattered Information</a:t>
            </a:r>
          </a:p>
          <a:p>
            <a:pPr>
              <a:spcAft>
                <a:spcPts val="600"/>
              </a:spcAft>
              <a:defRPr sz="1400">
                <a:solidFill>
                  <a:srgbClr val="475569"/>
                </a:solidFill>
              </a:defRPr>
            </a:pPr>
            <a:r>
              <a:t>• Important circulars, fees, and notices are spread across different links and PDF files.</a:t>
            </a:r>
          </a:p>
          <a:p>
            <a:pPr>
              <a:defRPr sz="1400">
                <a:solidFill>
                  <a:srgbClr val="475569"/>
                </a:solidFill>
              </a:defRPr>
            </a:pPr>
            <a:r>
              <a:t>• Students spend a lot of time finding the latest rules or admission notices.</a:t>
            </a:r>
          </a:p>
        </p:txBody>
      </p:sp>
      <p:sp>
        <p:nvSpPr>
          <p:cNvPr id="9" name="TextBox 8"/>
          <p:cNvSpPr txBox="1"/>
          <p:nvPr/>
        </p:nvSpPr>
        <p:spPr>
          <a:xfrm>
            <a:off x="6519672" y="1554480"/>
            <a:ext cx="4709160" cy="1965960"/>
          </a:xfrm>
          <a:prstGeom prst="rect">
            <a:avLst/>
          </a:prstGeom>
          <a:noFill/>
        </p:spPr>
        <p:txBody>
          <a:bodyPr wrap="square">
            <a:spAutoFit/>
          </a:bodyPr>
          <a:lstStyle/>
          <a:p>
            <a:pPr>
              <a:spcAft>
                <a:spcPts val="800"/>
              </a:spcAft>
              <a:defRPr sz="1800" b="1">
                <a:solidFill>
                  <a:srgbClr val="0F172A"/>
                </a:solidFill>
              </a:defRPr>
            </a:pPr>
            <a:r>
              <a:t>02. Separate Portals for Services</a:t>
            </a:r>
          </a:p>
          <a:p>
            <a:pPr>
              <a:spcAft>
                <a:spcPts val="600"/>
              </a:spcAft>
              <a:defRPr sz="1400">
                <a:solidFill>
                  <a:srgbClr val="475569"/>
                </a:solidFill>
              </a:defRPr>
            </a:pPr>
            <a:r>
              <a:t>• Students have to visit different pages for results, admit cards, fee receipts, and forms.</a:t>
            </a:r>
          </a:p>
          <a:p>
            <a:pPr>
              <a:defRPr sz="1400">
                <a:solidFill>
                  <a:srgbClr val="475569"/>
                </a:solidFill>
              </a:defRPr>
            </a:pPr>
            <a:r>
              <a:t>• Navigating multiple interfaces causes confusion and repeated logins.</a:t>
            </a:r>
          </a:p>
        </p:txBody>
      </p:sp>
      <p:sp>
        <p:nvSpPr>
          <p:cNvPr id="10" name="TextBox 9"/>
          <p:cNvSpPr txBox="1"/>
          <p:nvPr/>
        </p:nvSpPr>
        <p:spPr>
          <a:xfrm>
            <a:off x="960120" y="4114800"/>
            <a:ext cx="4709160" cy="1965960"/>
          </a:xfrm>
          <a:prstGeom prst="rect">
            <a:avLst/>
          </a:prstGeom>
          <a:noFill/>
        </p:spPr>
        <p:txBody>
          <a:bodyPr wrap="square">
            <a:spAutoFit/>
          </a:bodyPr>
          <a:lstStyle/>
          <a:p>
            <a:pPr>
              <a:spcAft>
                <a:spcPts val="800"/>
              </a:spcAft>
              <a:defRPr sz="1800" b="1">
                <a:solidFill>
                  <a:srgbClr val="0F172A"/>
                </a:solidFill>
              </a:defRPr>
            </a:pPr>
            <a:r>
              <a:t>03. Difficult Grievance Submission</a:t>
            </a:r>
          </a:p>
          <a:p>
            <a:pPr>
              <a:spcAft>
                <a:spcPts val="600"/>
              </a:spcAft>
              <a:defRPr sz="1400">
                <a:solidFill>
                  <a:srgbClr val="475569"/>
                </a:solidFill>
              </a:defRPr>
            </a:pPr>
            <a:r>
              <a:t>• Students often do not know which department or office handles their specific issue.</a:t>
            </a:r>
          </a:p>
          <a:p>
            <a:pPr>
              <a:defRPr sz="1400">
                <a:solidFill>
                  <a:srgbClr val="475569"/>
                </a:solidFill>
              </a:defRPr>
            </a:pPr>
            <a:r>
              <a:t>• Complaints written informally often miss key details like roll number or subject.</a:t>
            </a:r>
          </a:p>
        </p:txBody>
      </p:sp>
      <p:sp>
        <p:nvSpPr>
          <p:cNvPr id="11" name="TextBox 10"/>
          <p:cNvSpPr txBox="1"/>
          <p:nvPr/>
        </p:nvSpPr>
        <p:spPr>
          <a:xfrm>
            <a:off x="6519672" y="4114800"/>
            <a:ext cx="4709160" cy="1965960"/>
          </a:xfrm>
          <a:prstGeom prst="rect">
            <a:avLst/>
          </a:prstGeom>
          <a:noFill/>
        </p:spPr>
        <p:txBody>
          <a:bodyPr wrap="square">
            <a:spAutoFit/>
          </a:bodyPr>
          <a:lstStyle/>
          <a:p>
            <a:pPr>
              <a:spcAft>
                <a:spcPts val="800"/>
              </a:spcAft>
              <a:defRPr sz="1800" b="1">
                <a:solidFill>
                  <a:srgbClr val="0F172A"/>
                </a:solidFill>
              </a:defRPr>
            </a:pPr>
            <a:r>
              <a:t>04. Risk of Incorrect Answers</a:t>
            </a:r>
          </a:p>
          <a:p>
            <a:pPr>
              <a:spcAft>
                <a:spcPts val="600"/>
              </a:spcAft>
              <a:defRPr sz="1400">
                <a:solidFill>
                  <a:srgbClr val="475569"/>
                </a:solidFill>
              </a:defRPr>
            </a:pPr>
            <a:r>
              <a:t>• Generic online AI tools can guess or invent dates, fees, and passing criteria.</a:t>
            </a:r>
          </a:p>
          <a:p>
            <a:pPr>
              <a:defRPr sz="1400">
                <a:solidFill>
                  <a:srgbClr val="475569"/>
                </a:solidFill>
              </a:defRPr>
            </a:pPr>
            <a:r>
              <a:t>• Students need answers that are verified against official university documents.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300" b="1">
                <a:solidFill>
                  <a:srgbClr val="1D4ED8"/>
                </a:solidFill>
              </a:defRPr>
            </a:pPr>
            <a:r>
              <a:t>SOLUTION</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3000" b="1">
                <a:solidFill>
                  <a:srgbClr val="0F172A"/>
                </a:solidFill>
              </a:defRPr>
            </a:pPr>
            <a:r>
              <a:t>Proposed Solution: One Simple Conversational Interface</a:t>
            </a:r>
          </a:p>
        </p:txBody>
      </p:sp>
      <p:sp>
        <p:nvSpPr>
          <p:cNvPr id="4" name="Rounded Rectangle 3"/>
          <p:cNvSpPr/>
          <p:nvPr/>
        </p:nvSpPr>
        <p:spPr>
          <a:xfrm>
            <a:off x="731520" y="1371600"/>
            <a:ext cx="10728655"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00200"/>
            <a:ext cx="10180015" cy="548640"/>
          </a:xfrm>
          <a:prstGeom prst="rect">
            <a:avLst/>
          </a:prstGeom>
          <a:noFill/>
        </p:spPr>
        <p:txBody>
          <a:bodyPr wrap="square">
            <a:spAutoFit/>
          </a:bodyPr>
          <a:lstStyle/>
          <a:p>
            <a:pPr>
              <a:defRPr sz="1600">
                <a:solidFill>
                  <a:srgbClr val="475569"/>
                </a:solidFill>
              </a:defRPr>
            </a:pPr>
            <a:r>
              <a:t>CUS AI Assistant provides one single chat window that intelligently handles three types of requests:</a:t>
            </a:r>
          </a:p>
        </p:txBody>
      </p:sp>
      <p:sp>
        <p:nvSpPr>
          <p:cNvPr id="6" name="Rounded Rectangle 5"/>
          <p:cNvSpPr/>
          <p:nvPr/>
        </p:nvSpPr>
        <p:spPr>
          <a:xfrm>
            <a:off x="1005840" y="2194560"/>
            <a:ext cx="3200400" cy="2560320"/>
          </a:xfrm>
          <a:prstGeom prst="roundRect">
            <a:avLst/>
          </a:prstGeom>
          <a:solidFill>
            <a:srgbClr val="EFF6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377440"/>
            <a:ext cx="2834640" cy="2194560"/>
          </a:xfrm>
          <a:prstGeom prst="rect">
            <a:avLst/>
          </a:prstGeom>
          <a:noFill/>
        </p:spPr>
        <p:txBody>
          <a:bodyPr wrap="square">
            <a:spAutoFit/>
          </a:bodyPr>
          <a:lstStyle/>
          <a:p>
            <a:pPr>
              <a:spcAft>
                <a:spcPts val="1000"/>
              </a:spcAft>
              <a:defRPr sz="1700" b="1">
                <a:solidFill>
                  <a:srgbClr val="1D4ED8"/>
                </a:solidFill>
              </a:defRPr>
            </a:pPr>
            <a:r>
              <a:t>1. University Knowledge</a:t>
            </a:r>
          </a:p>
          <a:p>
            <a:pPr>
              <a:defRPr sz="1400">
                <a:solidFill>
                  <a:srgbClr val="0F172A"/>
                </a:solidFill>
              </a:defRPr>
            </a:pPr>
            <a:r>
              <a:t>Answers general questions (admission, fees, courses, syllabus, dates) using official documents.</a:t>
            </a:r>
          </a:p>
        </p:txBody>
      </p:sp>
      <p:sp>
        <p:nvSpPr>
          <p:cNvPr id="8" name="Rounded Rectangle 7"/>
          <p:cNvSpPr/>
          <p:nvPr/>
        </p:nvSpPr>
        <p:spPr>
          <a:xfrm>
            <a:off x="4480560" y="2194560"/>
            <a:ext cx="3200400" cy="2560320"/>
          </a:xfrm>
          <a:prstGeom prst="roundRect">
            <a:avLst/>
          </a:prstGeom>
          <a:solidFill>
            <a:srgbClr val="EFF6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2377440"/>
            <a:ext cx="2834640" cy="2194560"/>
          </a:xfrm>
          <a:prstGeom prst="rect">
            <a:avLst/>
          </a:prstGeom>
          <a:noFill/>
        </p:spPr>
        <p:txBody>
          <a:bodyPr wrap="square">
            <a:spAutoFit/>
          </a:bodyPr>
          <a:lstStyle/>
          <a:p>
            <a:pPr>
              <a:spcAft>
                <a:spcPts val="1000"/>
              </a:spcAft>
              <a:defRPr sz="1700" b="1">
                <a:solidFill>
                  <a:srgbClr val="0E7490"/>
                </a:solidFill>
              </a:defRPr>
            </a:pPr>
            <a:r>
              <a:t>2. Student Services</a:t>
            </a:r>
          </a:p>
          <a:p>
            <a:pPr>
              <a:defRPr sz="1400">
                <a:solidFill>
                  <a:srgbClr val="0F172A"/>
                </a:solidFill>
              </a:defRPr>
            </a:pPr>
            <a:r>
              <a:t>Allows logged-in students to view results, attendance, fee receipts, and request xerox copies.</a:t>
            </a:r>
          </a:p>
        </p:txBody>
      </p:sp>
      <p:sp>
        <p:nvSpPr>
          <p:cNvPr id="10" name="Rounded Rectangle 9"/>
          <p:cNvSpPr/>
          <p:nvPr/>
        </p:nvSpPr>
        <p:spPr>
          <a:xfrm>
            <a:off x="7955279" y="2194560"/>
            <a:ext cx="3200400" cy="2560320"/>
          </a:xfrm>
          <a:prstGeom prst="roundRect">
            <a:avLst/>
          </a:prstGeom>
          <a:solidFill>
            <a:srgbClr val="ECFDF5"/>
          </a:solidFill>
          <a:ln w="1905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59" y="2377440"/>
            <a:ext cx="2834640" cy="2194560"/>
          </a:xfrm>
          <a:prstGeom prst="rect">
            <a:avLst/>
          </a:prstGeom>
          <a:noFill/>
        </p:spPr>
        <p:txBody>
          <a:bodyPr wrap="square">
            <a:spAutoFit/>
          </a:bodyPr>
          <a:lstStyle/>
          <a:p>
            <a:pPr>
              <a:spcAft>
                <a:spcPts val="1000"/>
              </a:spcAft>
              <a:defRPr sz="1700" b="1">
                <a:solidFill>
                  <a:srgbClr val="059669"/>
                </a:solidFill>
              </a:defRPr>
            </a:pPr>
            <a:r>
              <a:t>3. Grievance System</a:t>
            </a:r>
          </a:p>
          <a:p>
            <a:pPr>
              <a:defRPr sz="1400">
                <a:solidFill>
                  <a:srgbClr val="0F172A"/>
                </a:solidFill>
              </a:defRPr>
            </a:pPr>
            <a:r>
              <a:t>Helps students draft clear complaints, selects the right office, and sends notifications.</a:t>
            </a:r>
          </a:p>
        </p:txBody>
      </p:sp>
      <p:sp>
        <p:nvSpPr>
          <p:cNvPr id="12" name="TextBox 11"/>
          <p:cNvSpPr txBox="1"/>
          <p:nvPr/>
        </p:nvSpPr>
        <p:spPr>
          <a:xfrm>
            <a:off x="1005840" y="4937760"/>
            <a:ext cx="10180015" cy="1188720"/>
          </a:xfrm>
          <a:prstGeom prst="rect">
            <a:avLst/>
          </a:prstGeom>
          <a:noFill/>
        </p:spPr>
        <p:txBody>
          <a:bodyPr wrap="square">
            <a:spAutoFit/>
          </a:bodyPr>
          <a:lstStyle/>
          <a:p/>
          <a:p>
            <a:pPr>
              <a:spcAft>
                <a:spcPts val="400"/>
              </a:spcAft>
              <a:defRPr sz="1400" b="1">
                <a:solidFill>
                  <a:srgbClr val="0F172A"/>
                </a:solidFill>
              </a:defRPr>
            </a:pPr>
            <a:r>
              <a:t>✔ Smart Routing: </a:t>
            </a:r>
            <a:r>
              <a:rPr b="0">
                <a:solidFill>
                  <a:srgbClr val="475569"/>
                </a:solidFill>
              </a:rPr>
              <a:t>The system understands what the user wants and routes the message to the right module.</a:t>
            </a:r>
          </a:p>
          <a:p>
            <a:pPr>
              <a:spcAft>
                <a:spcPts val="400"/>
              </a:spcAft>
              <a:defRPr sz="1400" b="1">
                <a:solidFill>
                  <a:srgbClr val="0F172A"/>
                </a:solidFill>
              </a:defRPr>
            </a:pPr>
            <a:r>
              <a:t>✔ Reliable Data: </a:t>
            </a:r>
            <a:r>
              <a:rPr b="0">
                <a:solidFill>
                  <a:srgbClr val="475569"/>
                </a:solidFill>
              </a:rPr>
              <a:t>Combines AI language understanding with structured database records.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300" b="1">
                <a:solidFill>
                  <a:srgbClr val="1D4ED8"/>
                </a:solidFill>
              </a:defRPr>
            </a:pPr>
            <a:r>
              <a:t>GOALS</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3000" b="1">
                <a:solidFill>
                  <a:srgbClr val="0F172A"/>
                </a:solidFill>
              </a:defRPr>
            </a:pPr>
            <a:r>
              <a:t>Project Objectives: What We Planned and Built</a:t>
            </a:r>
          </a:p>
        </p:txBody>
      </p:sp>
      <p:sp>
        <p:nvSpPr>
          <p:cNvPr id="4" name="Rounded Rectangle 3"/>
          <p:cNvSpPr/>
          <p:nvPr/>
        </p:nvSpPr>
        <p:spPr>
          <a:xfrm>
            <a:off x="731520" y="1371600"/>
            <a:ext cx="516636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291072" y="1371600"/>
            <a:ext cx="516636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617720" cy="4389120"/>
          </a:xfrm>
          <a:prstGeom prst="rect">
            <a:avLst/>
          </a:prstGeom>
          <a:noFill/>
        </p:spPr>
        <p:txBody>
          <a:bodyPr wrap="square">
            <a:spAutoFit/>
          </a:bodyPr>
          <a:lstStyle/>
          <a:p>
            <a:pPr>
              <a:spcAft>
                <a:spcPts val="1200"/>
              </a:spcAft>
              <a:defRPr sz="1800" b="1">
                <a:solidFill>
                  <a:srgbClr val="1D4ED8"/>
                </a:solidFill>
              </a:defRPr>
            </a:pPr>
            <a:r>
              <a:t>Information &amp; AI Objectives</a:t>
            </a:r>
          </a:p>
          <a:p>
            <a:pPr>
              <a:spcAft>
                <a:spcPts val="1000"/>
              </a:spcAft>
              <a:defRPr sz="1400" b="1">
                <a:solidFill>
                  <a:srgbClr val="0F172A"/>
                </a:solidFill>
              </a:defRPr>
            </a:pPr>
            <a:r>
              <a:t>🎯 University Q&amp;A: </a:t>
            </a:r>
            <a:r>
              <a:rPr b="0">
                <a:solidFill>
                  <a:srgbClr val="475569"/>
                </a:solidFill>
              </a:rPr>
              <a:t>Answer student queries using uploaded university circulars and notices.</a:t>
            </a:r>
          </a:p>
          <a:p>
            <a:pPr>
              <a:spcAft>
                <a:spcPts val="1000"/>
              </a:spcAft>
              <a:defRPr sz="1400" b="1">
                <a:solidFill>
                  <a:srgbClr val="0F172A"/>
                </a:solidFill>
              </a:defRPr>
            </a:pPr>
            <a:r>
              <a:t>🎯 RAG Pipeline: </a:t>
            </a:r>
            <a:r>
              <a:rPr b="0">
                <a:solidFill>
                  <a:srgbClr val="475569"/>
                </a:solidFill>
              </a:rPr>
              <a:t>Retrieve relevant document parts before the AI generates an answer.</a:t>
            </a:r>
          </a:p>
          <a:p>
            <a:pPr>
              <a:spcAft>
                <a:spcPts val="1000"/>
              </a:spcAft>
              <a:defRPr sz="1400" b="1">
                <a:solidFill>
                  <a:srgbClr val="0F172A"/>
                </a:solidFill>
              </a:defRPr>
            </a:pPr>
            <a:r>
              <a:t>🎯 Local AI Execution: </a:t>
            </a:r>
            <a:r>
              <a:rPr b="0">
                <a:solidFill>
                  <a:srgbClr val="475569"/>
                </a:solidFill>
              </a:rPr>
              <a:t>Run Llama locally through Ollama so the system does not depend on cloud APIs.</a:t>
            </a:r>
          </a:p>
          <a:p>
            <a:pPr>
              <a:spcAft>
                <a:spcPts val="1000"/>
              </a:spcAft>
              <a:defRPr sz="1400" b="1">
                <a:solidFill>
                  <a:srgbClr val="0F172A"/>
                </a:solidFill>
              </a:defRPr>
            </a:pPr>
            <a:r>
              <a:t>🎯 Voice Input: </a:t>
            </a:r>
            <a:r>
              <a:rPr b="0">
                <a:solidFill>
                  <a:srgbClr val="475569"/>
                </a:solidFill>
              </a:rPr>
              <a:t>Allow students to hold a microphone button and ask questions by speaking.</a:t>
            </a:r>
          </a:p>
        </p:txBody>
      </p:sp>
      <p:sp>
        <p:nvSpPr>
          <p:cNvPr id="7" name="TextBox 6"/>
          <p:cNvSpPr txBox="1"/>
          <p:nvPr/>
        </p:nvSpPr>
        <p:spPr>
          <a:xfrm>
            <a:off x="6565392" y="1645920"/>
            <a:ext cx="4617720" cy="4389120"/>
          </a:xfrm>
          <a:prstGeom prst="rect">
            <a:avLst/>
          </a:prstGeom>
          <a:noFill/>
        </p:spPr>
        <p:txBody>
          <a:bodyPr wrap="square">
            <a:spAutoFit/>
          </a:bodyPr>
          <a:lstStyle/>
          <a:p>
            <a:pPr>
              <a:spcAft>
                <a:spcPts val="1200"/>
              </a:spcAft>
              <a:defRPr sz="1800" b="1">
                <a:solidFill>
                  <a:srgbClr val="059669"/>
                </a:solidFill>
              </a:defRPr>
            </a:pPr>
            <a:r>
              <a:t>Services &amp; Administrative Objectives</a:t>
            </a:r>
          </a:p>
          <a:p>
            <a:pPr>
              <a:spcAft>
                <a:spcPts val="1000"/>
              </a:spcAft>
              <a:defRPr sz="1400" b="1">
                <a:solidFill>
                  <a:srgbClr val="0F172A"/>
                </a:solidFill>
              </a:defRPr>
            </a:pPr>
            <a:r>
              <a:t>🎯 Student Services: </a:t>
            </a:r>
            <a:r>
              <a:rPr b="0">
                <a:solidFill>
                  <a:srgbClr val="475569"/>
                </a:solidFill>
              </a:rPr>
              <a:t>Provide structured access to Results, Admit Cards, Attendance, Fees, etc.</a:t>
            </a:r>
          </a:p>
          <a:p>
            <a:pPr>
              <a:spcAft>
                <a:spcPts val="1000"/>
              </a:spcAft>
              <a:defRPr sz="1400" b="1">
                <a:solidFill>
                  <a:srgbClr val="0F172A"/>
                </a:solidFill>
              </a:defRPr>
            </a:pPr>
            <a:r>
              <a:t>🎯 Grievance System: </a:t>
            </a:r>
            <a:r>
              <a:rPr b="0">
                <a:solidFill>
                  <a:srgbClr val="475569"/>
                </a:solidFill>
              </a:rPr>
              <a:t>Allow students to submit complaints with AI drafting assistance and tracking.</a:t>
            </a:r>
          </a:p>
          <a:p>
            <a:pPr>
              <a:spcAft>
                <a:spcPts val="1000"/>
              </a:spcAft>
              <a:defRPr sz="1400" b="1">
                <a:solidFill>
                  <a:srgbClr val="0F172A"/>
                </a:solidFill>
              </a:defRPr>
            </a:pPr>
            <a:r>
              <a:t>🎯 Authority Management: </a:t>
            </a:r>
            <a:r>
              <a:rPr b="0">
                <a:solidFill>
                  <a:srgbClr val="475569"/>
                </a:solidFill>
              </a:rPr>
              <a:t>Give designated department heads a dashboard to resolve complaints.</a:t>
            </a:r>
          </a:p>
          <a:p>
            <a:pPr>
              <a:spcAft>
                <a:spcPts val="1000"/>
              </a:spcAft>
              <a:defRPr sz="1400" b="1">
                <a:solidFill>
                  <a:srgbClr val="0F172A"/>
                </a:solidFill>
              </a:defRPr>
            </a:pPr>
            <a:r>
              <a:t>🎯 Security &amp; Privacy: </a:t>
            </a:r>
            <a:r>
              <a:rPr b="0">
                <a:solidFill>
                  <a:srgbClr val="475569"/>
                </a:solidFill>
              </a:rPr>
              <a:t>Protect student passwords and keep student records private.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300" b="1">
                <a:solidFill>
                  <a:srgbClr val="1D4ED8"/>
                </a:solidFill>
              </a:defRPr>
            </a:pPr>
            <a:r>
              <a:t>TECHNOLOGIES</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3000" b="1">
                <a:solidFill>
                  <a:srgbClr val="0F172A"/>
                </a:solidFill>
              </a:defRPr>
            </a:pPr>
            <a:r>
              <a:t>Technology Stack: Tools and Technologies Used</a:t>
            </a:r>
          </a:p>
        </p:txBody>
      </p:sp>
      <p:sp>
        <p:nvSpPr>
          <p:cNvPr id="4" name="Rounded Rectangle 3"/>
          <p:cNvSpPr/>
          <p:nvPr/>
        </p:nvSpPr>
        <p:spPr>
          <a:xfrm>
            <a:off x="731520" y="1371600"/>
            <a:ext cx="3328416" cy="23317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2962656" cy="2057400"/>
          </a:xfrm>
          <a:prstGeom prst="rect">
            <a:avLst/>
          </a:prstGeom>
          <a:noFill/>
        </p:spPr>
        <p:txBody>
          <a:bodyPr wrap="square">
            <a:spAutoFit/>
          </a:bodyPr>
          <a:lstStyle/>
          <a:p>
            <a:pPr>
              <a:spcAft>
                <a:spcPts val="200"/>
              </a:spcAft>
              <a:defRPr sz="1100" b="1">
                <a:solidFill>
                  <a:srgbClr val="1D4ED8"/>
                </a:solidFill>
              </a:defRPr>
            </a:pPr>
            <a:r>
              <a:t>FRONTEND</a:t>
            </a:r>
          </a:p>
          <a:p>
            <a:pPr>
              <a:spcAft>
                <a:spcPts val="600"/>
              </a:spcAft>
              <a:defRPr sz="1600" b="1">
                <a:solidFill>
                  <a:srgbClr val="0F172A"/>
                </a:solidFill>
              </a:defRPr>
            </a:pPr>
            <a:r>
              <a:t>HTML5, CSS3, JavaScript</a:t>
            </a:r>
          </a:p>
          <a:p>
            <a:pPr>
              <a:spcAft>
                <a:spcPts val="200"/>
              </a:spcAft>
              <a:defRPr sz="1300">
                <a:solidFill>
                  <a:srgbClr val="475569"/>
                </a:solidFill>
              </a:defRPr>
            </a:pPr>
            <a:r>
              <a:t>• Clean and responsive user interface</a:t>
            </a:r>
          </a:p>
          <a:p>
            <a:pPr>
              <a:spcAft>
                <a:spcPts val="200"/>
              </a:spcAft>
              <a:defRPr sz="1300">
                <a:solidFill>
                  <a:srgbClr val="475569"/>
                </a:solidFill>
              </a:defRPr>
            </a:pPr>
            <a:r>
              <a:t>• Real-time streaming (Server-Sent Events)</a:t>
            </a:r>
          </a:p>
          <a:p>
            <a:pPr>
              <a:spcAft>
                <a:spcPts val="200"/>
              </a:spcAft>
              <a:defRPr sz="1300">
                <a:solidFill>
                  <a:srgbClr val="475569"/>
                </a:solidFill>
              </a:defRPr>
            </a:pPr>
            <a:r>
              <a:t>• Web Speech API for voice input</a:t>
            </a:r>
          </a:p>
        </p:txBody>
      </p:sp>
      <p:sp>
        <p:nvSpPr>
          <p:cNvPr id="6" name="Rounded Rectangle 5"/>
          <p:cNvSpPr/>
          <p:nvPr/>
        </p:nvSpPr>
        <p:spPr>
          <a:xfrm>
            <a:off x="4425696" y="1371600"/>
            <a:ext cx="3328416" cy="23317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1508760"/>
            <a:ext cx="2962656" cy="2057400"/>
          </a:xfrm>
          <a:prstGeom prst="rect">
            <a:avLst/>
          </a:prstGeom>
          <a:noFill/>
        </p:spPr>
        <p:txBody>
          <a:bodyPr wrap="square">
            <a:spAutoFit/>
          </a:bodyPr>
          <a:lstStyle/>
          <a:p>
            <a:pPr>
              <a:spcAft>
                <a:spcPts val="200"/>
              </a:spcAft>
              <a:defRPr sz="1100" b="1">
                <a:solidFill>
                  <a:srgbClr val="0E7490"/>
                </a:solidFill>
              </a:defRPr>
            </a:pPr>
            <a:r>
              <a:t>BACKEND FRAMEWORK</a:t>
            </a:r>
          </a:p>
          <a:p>
            <a:pPr>
              <a:spcAft>
                <a:spcPts val="600"/>
              </a:spcAft>
              <a:defRPr sz="1600" b="1">
                <a:solidFill>
                  <a:srgbClr val="0F172A"/>
                </a:solidFill>
              </a:defRPr>
            </a:pPr>
            <a:r>
              <a:t>Python &amp; FastAPI</a:t>
            </a:r>
          </a:p>
          <a:p>
            <a:pPr>
              <a:spcAft>
                <a:spcPts val="200"/>
              </a:spcAft>
              <a:defRPr sz="1300">
                <a:solidFill>
                  <a:srgbClr val="475569"/>
                </a:solidFill>
              </a:defRPr>
            </a:pPr>
            <a:r>
              <a:t>• FastAPI for high-speed API routes</a:t>
            </a:r>
          </a:p>
          <a:p>
            <a:pPr>
              <a:spcAft>
                <a:spcPts val="200"/>
              </a:spcAft>
              <a:defRPr sz="1300">
                <a:solidFill>
                  <a:srgbClr val="475569"/>
                </a:solidFill>
              </a:defRPr>
            </a:pPr>
            <a:r>
              <a:t>• Uvicorn as ASGI server</a:t>
            </a:r>
          </a:p>
          <a:p>
            <a:pPr>
              <a:spcAft>
                <a:spcPts val="200"/>
              </a:spcAft>
              <a:defRPr sz="1300">
                <a:solidFill>
                  <a:srgbClr val="475569"/>
                </a:solidFill>
              </a:defRPr>
            </a:pPr>
            <a:r>
              <a:t>• Pydantic for data validation</a:t>
            </a:r>
          </a:p>
        </p:txBody>
      </p:sp>
      <p:sp>
        <p:nvSpPr>
          <p:cNvPr id="8" name="Rounded Rectangle 7"/>
          <p:cNvSpPr/>
          <p:nvPr/>
        </p:nvSpPr>
        <p:spPr>
          <a:xfrm>
            <a:off x="8119872" y="1371600"/>
            <a:ext cx="3328416" cy="23317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508760"/>
            <a:ext cx="2962656" cy="2057400"/>
          </a:xfrm>
          <a:prstGeom prst="rect">
            <a:avLst/>
          </a:prstGeom>
          <a:noFill/>
        </p:spPr>
        <p:txBody>
          <a:bodyPr wrap="square">
            <a:spAutoFit/>
          </a:bodyPr>
          <a:lstStyle/>
          <a:p>
            <a:pPr>
              <a:spcAft>
                <a:spcPts val="200"/>
              </a:spcAft>
              <a:defRPr sz="1100" b="1">
                <a:solidFill>
                  <a:srgbClr val="059669"/>
                </a:solidFill>
              </a:defRPr>
            </a:pPr>
            <a:r>
              <a:t>AI &amp; LANGUAGE MODEL</a:t>
            </a:r>
          </a:p>
          <a:p>
            <a:pPr>
              <a:spcAft>
                <a:spcPts val="600"/>
              </a:spcAft>
              <a:defRPr sz="1600" b="1">
                <a:solidFill>
                  <a:srgbClr val="0F172A"/>
                </a:solidFill>
              </a:defRPr>
            </a:pPr>
            <a:r>
              <a:t>Llama 3.2 &amp; Ollama</a:t>
            </a:r>
          </a:p>
          <a:p>
            <a:pPr>
              <a:spcAft>
                <a:spcPts val="200"/>
              </a:spcAft>
              <a:defRPr sz="1300">
                <a:solidFill>
                  <a:srgbClr val="475569"/>
                </a:solidFill>
              </a:defRPr>
            </a:pPr>
            <a:r>
              <a:t>• Llama 3.2 (1B) as the language model</a:t>
            </a:r>
          </a:p>
          <a:p>
            <a:pPr>
              <a:spcAft>
                <a:spcPts val="200"/>
              </a:spcAft>
              <a:defRPr sz="1300">
                <a:solidFill>
                  <a:srgbClr val="475569"/>
                </a:solidFill>
              </a:defRPr>
            </a:pPr>
            <a:r>
              <a:t>• Ollama for running the model locally</a:t>
            </a:r>
          </a:p>
          <a:p>
            <a:pPr>
              <a:spcAft>
                <a:spcPts val="200"/>
              </a:spcAft>
              <a:defRPr sz="1300">
                <a:solidFill>
                  <a:srgbClr val="475569"/>
                </a:solidFill>
              </a:defRPr>
            </a:pPr>
            <a:r>
              <a:t>• Streaming text generation</a:t>
            </a:r>
          </a:p>
        </p:txBody>
      </p:sp>
      <p:sp>
        <p:nvSpPr>
          <p:cNvPr id="10" name="Rounded Rectangle 9"/>
          <p:cNvSpPr/>
          <p:nvPr/>
        </p:nvSpPr>
        <p:spPr>
          <a:xfrm>
            <a:off x="731520" y="3931920"/>
            <a:ext cx="3328416" cy="23317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069080"/>
            <a:ext cx="2962656" cy="2057400"/>
          </a:xfrm>
          <a:prstGeom prst="rect">
            <a:avLst/>
          </a:prstGeom>
          <a:noFill/>
        </p:spPr>
        <p:txBody>
          <a:bodyPr wrap="square">
            <a:spAutoFit/>
          </a:bodyPr>
          <a:lstStyle/>
          <a:p>
            <a:pPr>
              <a:spcAft>
                <a:spcPts val="200"/>
              </a:spcAft>
              <a:defRPr sz="1100" b="1">
                <a:solidFill>
                  <a:srgbClr val="1D4ED8"/>
                </a:solidFill>
              </a:defRPr>
            </a:pPr>
            <a:r>
              <a:t>SEARCH &amp; KNOWLEDGE</a:t>
            </a:r>
          </a:p>
          <a:p>
            <a:pPr>
              <a:spcAft>
                <a:spcPts val="600"/>
              </a:spcAft>
              <a:defRPr sz="1600" b="1">
                <a:solidFill>
                  <a:srgbClr val="0F172A"/>
                </a:solidFill>
              </a:defRPr>
            </a:pPr>
            <a:r>
              <a:t>ChromaDB &amp; BM25</a:t>
            </a:r>
          </a:p>
          <a:p>
            <a:pPr>
              <a:spcAft>
                <a:spcPts val="200"/>
              </a:spcAft>
              <a:defRPr sz="1300">
                <a:solidFill>
                  <a:srgbClr val="475569"/>
                </a:solidFill>
              </a:defRPr>
            </a:pPr>
            <a:r>
              <a:t>• ChromaDB for meaning-based search</a:t>
            </a:r>
          </a:p>
          <a:p>
            <a:pPr>
              <a:spcAft>
                <a:spcPts val="200"/>
              </a:spcAft>
              <a:defRPr sz="1300">
                <a:solidFill>
                  <a:srgbClr val="475569"/>
                </a:solidFill>
              </a:defRPr>
            </a:pPr>
            <a:r>
              <a:t>• BM25 for exact keyword search</a:t>
            </a:r>
          </a:p>
          <a:p>
            <a:pPr>
              <a:spcAft>
                <a:spcPts val="200"/>
              </a:spcAft>
              <a:defRPr sz="1300">
                <a:solidFill>
                  <a:srgbClr val="475569"/>
                </a:solidFill>
              </a:defRPr>
            </a:pPr>
            <a:r>
              <a:t>• nomic-embed-text for embeddings</a:t>
            </a:r>
          </a:p>
        </p:txBody>
      </p:sp>
      <p:sp>
        <p:nvSpPr>
          <p:cNvPr id="12" name="Rounded Rectangle 11"/>
          <p:cNvSpPr/>
          <p:nvPr/>
        </p:nvSpPr>
        <p:spPr>
          <a:xfrm>
            <a:off x="4425696" y="3931920"/>
            <a:ext cx="3328416" cy="23317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4069080"/>
            <a:ext cx="2962656" cy="2057400"/>
          </a:xfrm>
          <a:prstGeom prst="rect">
            <a:avLst/>
          </a:prstGeom>
          <a:noFill/>
        </p:spPr>
        <p:txBody>
          <a:bodyPr wrap="square">
            <a:spAutoFit/>
          </a:bodyPr>
          <a:lstStyle/>
          <a:p>
            <a:pPr>
              <a:spcAft>
                <a:spcPts val="200"/>
              </a:spcAft>
              <a:defRPr sz="1100" b="1">
                <a:solidFill>
                  <a:srgbClr val="0E7490"/>
                </a:solidFill>
              </a:defRPr>
            </a:pPr>
            <a:r>
              <a:t>DATABASE</a:t>
            </a:r>
          </a:p>
          <a:p>
            <a:pPr>
              <a:spcAft>
                <a:spcPts val="600"/>
              </a:spcAft>
              <a:defRPr sz="1600" b="1">
                <a:solidFill>
                  <a:srgbClr val="0F172A"/>
                </a:solidFill>
              </a:defRPr>
            </a:pPr>
            <a:r>
              <a:t>SQLite / PostgreSQL</a:t>
            </a:r>
          </a:p>
          <a:p>
            <a:pPr>
              <a:spcAft>
                <a:spcPts val="200"/>
              </a:spcAft>
              <a:defRPr sz="1300">
                <a:solidFill>
                  <a:srgbClr val="475569"/>
                </a:solidFill>
              </a:defRPr>
            </a:pPr>
            <a:r>
              <a:t>• SQLAlchemy ORM for database models</a:t>
            </a:r>
          </a:p>
          <a:p>
            <a:pPr>
              <a:spcAft>
                <a:spcPts val="200"/>
              </a:spcAft>
              <a:defRPr sz="1300">
                <a:solidFill>
                  <a:srgbClr val="475569"/>
                </a:solidFill>
              </a:defRPr>
            </a:pPr>
            <a:r>
              <a:t>• Stores student records and grievances</a:t>
            </a:r>
          </a:p>
          <a:p>
            <a:pPr>
              <a:spcAft>
                <a:spcPts val="200"/>
              </a:spcAft>
              <a:defRPr sz="1300">
                <a:solidFill>
                  <a:srgbClr val="475569"/>
                </a:solidFill>
              </a:defRPr>
            </a:pPr>
            <a:r>
              <a:t>• 23 database tables</a:t>
            </a:r>
          </a:p>
        </p:txBody>
      </p:sp>
      <p:sp>
        <p:nvSpPr>
          <p:cNvPr id="14" name="Rounded Rectangle 13"/>
          <p:cNvSpPr/>
          <p:nvPr/>
        </p:nvSpPr>
        <p:spPr>
          <a:xfrm>
            <a:off x="8119872" y="3931920"/>
            <a:ext cx="3328416" cy="23317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4069080"/>
            <a:ext cx="2962656" cy="2057400"/>
          </a:xfrm>
          <a:prstGeom prst="rect">
            <a:avLst/>
          </a:prstGeom>
          <a:noFill/>
        </p:spPr>
        <p:txBody>
          <a:bodyPr wrap="square">
            <a:spAutoFit/>
          </a:bodyPr>
          <a:lstStyle/>
          <a:p>
            <a:pPr>
              <a:spcAft>
                <a:spcPts val="200"/>
              </a:spcAft>
              <a:defRPr sz="1100" b="1">
                <a:solidFill>
                  <a:srgbClr val="059669"/>
                </a:solidFill>
              </a:defRPr>
            </a:pPr>
            <a:r>
              <a:t>SECURITY</a:t>
            </a:r>
          </a:p>
          <a:p>
            <a:pPr>
              <a:spcAft>
                <a:spcPts val="600"/>
              </a:spcAft>
              <a:defRPr sz="1600" b="1">
                <a:solidFill>
                  <a:srgbClr val="0F172A"/>
                </a:solidFill>
              </a:defRPr>
            </a:pPr>
            <a:r>
              <a:t>JWT &amp; Password Hashing</a:t>
            </a:r>
          </a:p>
          <a:p>
            <a:pPr>
              <a:spcAft>
                <a:spcPts val="200"/>
              </a:spcAft>
              <a:defRPr sz="1300">
                <a:solidFill>
                  <a:srgbClr val="475569"/>
                </a:solidFill>
              </a:defRPr>
            </a:pPr>
            <a:r>
              <a:t>• bcrypt for hashing passwords securely</a:t>
            </a:r>
          </a:p>
          <a:p>
            <a:pPr>
              <a:spcAft>
                <a:spcPts val="200"/>
              </a:spcAft>
              <a:defRPr sz="1300">
                <a:solidFill>
                  <a:srgbClr val="475569"/>
                </a:solidFill>
              </a:defRPr>
            </a:pPr>
            <a:r>
              <a:t>• JWT tokens for user login sessions</a:t>
            </a:r>
          </a:p>
          <a:p>
            <a:pPr>
              <a:spcAft>
                <a:spcPts val="200"/>
              </a:spcAft>
              <a:defRPr sz="1300">
                <a:solidFill>
                  <a:srgbClr val="475569"/>
                </a:solidFill>
              </a:defRPr>
            </a:pPr>
            <a:r>
              <a:t>• Role-based permissions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300" b="1">
                <a:solidFill>
                  <a:srgbClr val="1D4ED8"/>
                </a:solidFill>
              </a:defRPr>
            </a:pPr>
            <a:r>
              <a:t>ARCHITECTURE</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3000" b="1">
                <a:solidFill>
                  <a:srgbClr val="0F172A"/>
                </a:solidFill>
              </a:defRPr>
            </a:pPr>
            <a:r>
              <a:t>System Architecture: How the System is Structured</a:t>
            </a:r>
          </a:p>
        </p:txBody>
      </p:sp>
      <p:sp>
        <p:nvSpPr>
          <p:cNvPr id="4" name="Rounded Rectangle 3"/>
          <p:cNvSpPr/>
          <p:nvPr/>
        </p:nvSpPr>
        <p:spPr>
          <a:xfrm>
            <a:off x="731520" y="1371600"/>
            <a:ext cx="10728655"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1645920"/>
            <a:ext cx="2423160" cy="4389120"/>
          </a:xfrm>
          <a:prstGeom prst="roundRect">
            <a:avLst/>
          </a:prstGeom>
          <a:solidFill>
            <a:srgbClr val="EFF6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828800"/>
            <a:ext cx="2148840" cy="4023360"/>
          </a:xfrm>
          <a:prstGeom prst="rect">
            <a:avLst/>
          </a:prstGeom>
          <a:noFill/>
        </p:spPr>
        <p:txBody>
          <a:bodyPr wrap="square">
            <a:spAutoFit/>
          </a:bodyPr>
          <a:lstStyle/>
          <a:p>
            <a:pPr>
              <a:spcAft>
                <a:spcPts val="200"/>
              </a:spcAft>
              <a:defRPr sz="1200" b="1">
                <a:solidFill>
                  <a:srgbClr val="1D4ED8"/>
                </a:solidFill>
              </a:defRPr>
            </a:pPr>
            <a:r>
              <a:t>1. USER INTERFACE</a:t>
            </a:r>
          </a:p>
          <a:p>
            <a:pPr>
              <a:spcAft>
                <a:spcPts val="1200"/>
              </a:spcAft>
              <a:defRPr sz="1600" b="1">
                <a:solidFill>
                  <a:srgbClr val="0F172A"/>
                </a:solidFill>
              </a:defRPr>
            </a:pPr>
            <a:r>
              <a:t>Chat &amp; Admin Pages</a:t>
            </a:r>
          </a:p>
          <a:p>
            <a:pPr>
              <a:spcAft>
                <a:spcPts val="800"/>
              </a:spcAft>
              <a:defRPr sz="1300" b="1">
                <a:solidFill>
                  <a:srgbClr val="0F172A"/>
                </a:solidFill>
              </a:defRPr>
            </a:pPr>
            <a:r>
              <a:t>• Student Chatbot: </a:t>
            </a:r>
            <a:r>
              <a:rPr b="0">
                <a:solidFill>
                  <a:srgbClr val="475569"/>
                </a:solidFill>
              </a:rPr>
              <a:t>Type or speak questions</a:t>
            </a:r>
          </a:p>
          <a:p>
            <a:pPr>
              <a:spcAft>
                <a:spcPts val="800"/>
              </a:spcAft>
              <a:defRPr sz="1300" b="1">
                <a:solidFill>
                  <a:srgbClr val="0F172A"/>
                </a:solidFill>
              </a:defRPr>
            </a:pPr>
            <a:r>
              <a:t>• Authority Portal: </a:t>
            </a:r>
            <a:r>
              <a:rPr b="0">
                <a:solidFill>
                  <a:srgbClr val="475569"/>
                </a:solidFill>
              </a:rPr>
              <a:t>View &amp; resolve complaints</a:t>
            </a:r>
          </a:p>
          <a:p>
            <a:pPr>
              <a:spcAft>
                <a:spcPts val="800"/>
              </a:spcAft>
              <a:defRPr sz="1300" b="1">
                <a:solidFill>
                  <a:srgbClr val="0F172A"/>
                </a:solidFill>
              </a:defRPr>
            </a:pPr>
            <a:r>
              <a:t>• Super Admin: </a:t>
            </a:r>
            <a:r>
              <a:rPr b="0">
                <a:solidFill>
                  <a:srgbClr val="475569"/>
                </a:solidFill>
              </a:rPr>
              <a:t>Manage docs &amp; system</a:t>
            </a:r>
          </a:p>
        </p:txBody>
      </p:sp>
      <p:sp>
        <p:nvSpPr>
          <p:cNvPr id="7" name="Rounded Rectangle 6"/>
          <p:cNvSpPr/>
          <p:nvPr/>
        </p:nvSpPr>
        <p:spPr>
          <a:xfrm>
            <a:off x="3584448" y="1645920"/>
            <a:ext cx="2423160" cy="43891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21608" y="1828800"/>
            <a:ext cx="2148840" cy="4023360"/>
          </a:xfrm>
          <a:prstGeom prst="rect">
            <a:avLst/>
          </a:prstGeom>
          <a:noFill/>
        </p:spPr>
        <p:txBody>
          <a:bodyPr wrap="square">
            <a:spAutoFit/>
          </a:bodyPr>
          <a:lstStyle/>
          <a:p>
            <a:pPr>
              <a:spcAft>
                <a:spcPts val="200"/>
              </a:spcAft>
              <a:defRPr sz="1200" b="1">
                <a:solidFill>
                  <a:srgbClr val="0E7490"/>
                </a:solidFill>
              </a:defRPr>
            </a:pPr>
            <a:r>
              <a:t>2. BACKEND GATEWAY</a:t>
            </a:r>
          </a:p>
          <a:p>
            <a:pPr>
              <a:spcAft>
                <a:spcPts val="1200"/>
              </a:spcAft>
              <a:defRPr sz="1600" b="1">
                <a:solidFill>
                  <a:srgbClr val="0F172A"/>
                </a:solidFill>
              </a:defRPr>
            </a:pPr>
            <a:r>
              <a:t>FastAPI Application</a:t>
            </a:r>
          </a:p>
          <a:p>
            <a:pPr>
              <a:spcAft>
                <a:spcPts val="800"/>
              </a:spcAft>
              <a:defRPr sz="1300" b="1">
                <a:solidFill>
                  <a:srgbClr val="0F172A"/>
                </a:solidFill>
              </a:defRPr>
            </a:pPr>
            <a:r>
              <a:t>• API Validation: </a:t>
            </a:r>
            <a:r>
              <a:rPr b="0">
                <a:solidFill>
                  <a:srgbClr val="475569"/>
                </a:solidFill>
              </a:rPr>
              <a:t>Checks user requests</a:t>
            </a:r>
          </a:p>
          <a:p>
            <a:pPr>
              <a:spcAft>
                <a:spcPts val="800"/>
              </a:spcAft>
              <a:defRPr sz="1300" b="1">
                <a:solidFill>
                  <a:srgbClr val="0F172A"/>
                </a:solidFill>
              </a:defRPr>
            </a:pPr>
            <a:r>
              <a:t>• Rate Limiting: </a:t>
            </a:r>
            <a:r>
              <a:rPr b="0">
                <a:solidFill>
                  <a:srgbClr val="475569"/>
                </a:solidFill>
              </a:rPr>
              <a:t>Prevents overload</a:t>
            </a:r>
          </a:p>
          <a:p>
            <a:pPr>
              <a:spcAft>
                <a:spcPts val="800"/>
              </a:spcAft>
              <a:defRPr sz="1300" b="1">
                <a:solidFill>
                  <a:srgbClr val="0F172A"/>
                </a:solidFill>
              </a:defRPr>
            </a:pPr>
            <a:r>
              <a:t>• SSE Streaming: </a:t>
            </a:r>
            <a:r>
              <a:rPr b="0">
                <a:solidFill>
                  <a:srgbClr val="475569"/>
                </a:solidFill>
              </a:rPr>
              <a:t>Streams text smoothly</a:t>
            </a:r>
          </a:p>
        </p:txBody>
      </p:sp>
      <p:sp>
        <p:nvSpPr>
          <p:cNvPr id="9" name="Rounded Rectangle 8"/>
          <p:cNvSpPr/>
          <p:nvPr/>
        </p:nvSpPr>
        <p:spPr>
          <a:xfrm>
            <a:off x="6163056" y="1645920"/>
            <a:ext cx="2423160" cy="4389120"/>
          </a:xfrm>
          <a:prstGeom prst="roundRect">
            <a:avLst/>
          </a:prstGeom>
          <a:solidFill>
            <a:srgbClr val="EFF6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0216" y="1828800"/>
            <a:ext cx="2148840" cy="4023360"/>
          </a:xfrm>
          <a:prstGeom prst="rect">
            <a:avLst/>
          </a:prstGeom>
          <a:noFill/>
        </p:spPr>
        <p:txBody>
          <a:bodyPr wrap="square">
            <a:spAutoFit/>
          </a:bodyPr>
          <a:lstStyle/>
          <a:p>
            <a:pPr>
              <a:spcAft>
                <a:spcPts val="200"/>
              </a:spcAft>
              <a:defRPr sz="1200" b="1">
                <a:solidFill>
                  <a:srgbClr val="059669"/>
                </a:solidFill>
              </a:defRPr>
            </a:pPr>
            <a:r>
              <a:t>3. ORCHESTRATOR</a:t>
            </a:r>
          </a:p>
          <a:p>
            <a:pPr>
              <a:spcAft>
                <a:spcPts val="1200"/>
              </a:spcAft>
              <a:defRPr sz="1600" b="1">
                <a:solidFill>
                  <a:srgbClr val="0F172A"/>
                </a:solidFill>
              </a:defRPr>
            </a:pPr>
            <a:r>
              <a:t>Decision Engine</a:t>
            </a:r>
          </a:p>
          <a:p>
            <a:pPr>
              <a:spcAft>
                <a:spcPts val="800"/>
              </a:spcAft>
              <a:defRPr sz="1300" b="1">
                <a:solidFill>
                  <a:srgbClr val="0F172A"/>
                </a:solidFill>
              </a:defRPr>
            </a:pPr>
            <a:r>
              <a:t>• Query Understanding: </a:t>
            </a:r>
            <a:r>
              <a:rPr b="0">
                <a:solidFill>
                  <a:srgbClr val="475569"/>
                </a:solidFill>
              </a:rPr>
              <a:t>Fixes typos &amp; finds intent</a:t>
            </a:r>
          </a:p>
          <a:p>
            <a:pPr>
              <a:spcAft>
                <a:spcPts val="800"/>
              </a:spcAft>
              <a:defRPr sz="1300" b="1">
                <a:solidFill>
                  <a:srgbClr val="0F172A"/>
                </a:solidFill>
              </a:defRPr>
            </a:pPr>
            <a:r>
              <a:t>• State Tracking: </a:t>
            </a:r>
            <a:r>
              <a:rPr b="0">
                <a:solidFill>
                  <a:srgbClr val="475569"/>
                </a:solidFill>
              </a:rPr>
              <a:t>Remembers conversation</a:t>
            </a:r>
          </a:p>
          <a:p>
            <a:pPr>
              <a:spcAft>
                <a:spcPts val="800"/>
              </a:spcAft>
              <a:defRPr sz="1300" b="1">
                <a:solidFill>
                  <a:srgbClr val="0F172A"/>
                </a:solidFill>
              </a:defRPr>
            </a:pPr>
            <a:r>
              <a:t>• Module Router: </a:t>
            </a:r>
            <a:r>
              <a:rPr b="0">
                <a:solidFill>
                  <a:srgbClr val="475569"/>
                </a:solidFill>
              </a:rPr>
              <a:t>Sends to correct section</a:t>
            </a:r>
          </a:p>
        </p:txBody>
      </p:sp>
      <p:sp>
        <p:nvSpPr>
          <p:cNvPr id="11" name="Rounded Rectangle 10"/>
          <p:cNvSpPr/>
          <p:nvPr/>
        </p:nvSpPr>
        <p:spPr>
          <a:xfrm>
            <a:off x="8741663" y="1645920"/>
            <a:ext cx="2423160" cy="43891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78824" y="1828800"/>
            <a:ext cx="2148840" cy="4023360"/>
          </a:xfrm>
          <a:prstGeom prst="rect">
            <a:avLst/>
          </a:prstGeom>
          <a:noFill/>
        </p:spPr>
        <p:txBody>
          <a:bodyPr wrap="square">
            <a:spAutoFit/>
          </a:bodyPr>
          <a:lstStyle/>
          <a:p>
            <a:pPr>
              <a:spcAft>
                <a:spcPts val="200"/>
              </a:spcAft>
              <a:defRPr sz="1200" b="1">
                <a:solidFill>
                  <a:srgbClr val="1D4ED8"/>
                </a:solidFill>
              </a:defRPr>
            </a:pPr>
            <a:r>
              <a:t>4. CORE MODULES</a:t>
            </a:r>
          </a:p>
          <a:p>
            <a:pPr>
              <a:spcAft>
                <a:spcPts val="1200"/>
              </a:spcAft>
              <a:defRPr sz="1600" b="1">
                <a:solidFill>
                  <a:srgbClr val="0F172A"/>
                </a:solidFill>
              </a:defRPr>
            </a:pPr>
            <a:r>
              <a:t>Execution &amp; Storage</a:t>
            </a:r>
          </a:p>
          <a:p>
            <a:pPr>
              <a:spcAft>
                <a:spcPts val="800"/>
              </a:spcAft>
              <a:defRPr sz="1300" b="1">
                <a:solidFill>
                  <a:srgbClr val="0F172A"/>
                </a:solidFill>
              </a:defRPr>
            </a:pPr>
            <a:r>
              <a:t>• RAG + Llama: </a:t>
            </a:r>
            <a:r>
              <a:rPr b="0">
                <a:solidFill>
                  <a:srgbClr val="475569"/>
                </a:solidFill>
              </a:rPr>
              <a:t>Document Q&amp;A engine</a:t>
            </a:r>
          </a:p>
          <a:p>
            <a:pPr>
              <a:spcAft>
                <a:spcPts val="800"/>
              </a:spcAft>
              <a:defRPr sz="1300" b="1">
                <a:solidFill>
                  <a:srgbClr val="0F172A"/>
                </a:solidFill>
              </a:defRPr>
            </a:pPr>
            <a:r>
              <a:t>• Student Services: </a:t>
            </a:r>
            <a:r>
              <a:rPr b="0">
                <a:solidFill>
                  <a:srgbClr val="475569"/>
                </a:solidFill>
              </a:rPr>
              <a:t>Results, fees, xerox</a:t>
            </a:r>
          </a:p>
          <a:p>
            <a:pPr>
              <a:spcAft>
                <a:spcPts val="800"/>
              </a:spcAft>
              <a:defRPr sz="1300" b="1">
                <a:solidFill>
                  <a:srgbClr val="0F172A"/>
                </a:solidFill>
              </a:defRPr>
            </a:pPr>
            <a:r>
              <a:t>• Database: </a:t>
            </a:r>
            <a:r>
              <a:rPr b="0">
                <a:solidFill>
                  <a:srgbClr val="475569"/>
                </a:solidFill>
              </a:rPr>
              <a:t>SQL + ChromaDB store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300" b="1">
                <a:solidFill>
                  <a:srgbClr val="1D4ED8"/>
                </a:solidFill>
              </a:defRPr>
            </a:pPr>
            <a:r>
              <a:t>REQUEST FLOW</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3000" b="1">
                <a:solidFill>
                  <a:srgbClr val="0F172A"/>
                </a:solidFill>
              </a:defRPr>
            </a:pPr>
            <a:r>
              <a:t>Request Flow: What Happens When a Message is Sent</a:t>
            </a:r>
          </a:p>
        </p:txBody>
      </p:sp>
      <p:sp>
        <p:nvSpPr>
          <p:cNvPr id="4" name="Rounded Rectangle 3"/>
          <p:cNvSpPr/>
          <p:nvPr/>
        </p:nvSpPr>
        <p:spPr>
          <a:xfrm>
            <a:off x="731520" y="1371600"/>
            <a:ext cx="1609344"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554480"/>
            <a:ext cx="1389888" cy="4572000"/>
          </a:xfrm>
          <a:prstGeom prst="rect">
            <a:avLst/>
          </a:prstGeom>
          <a:noFill/>
        </p:spPr>
        <p:txBody>
          <a:bodyPr wrap="square">
            <a:spAutoFit/>
          </a:bodyPr>
          <a:lstStyle/>
          <a:p>
            <a:pPr>
              <a:spcAft>
                <a:spcPts val="400"/>
              </a:spcAft>
              <a:defRPr sz="1300" b="1">
                <a:solidFill>
                  <a:srgbClr val="1D4ED8"/>
                </a:solidFill>
              </a:defRPr>
            </a:pPr>
            <a:r>
              <a:t>STEP 1</a:t>
            </a:r>
          </a:p>
          <a:p>
            <a:pPr>
              <a:spcAft>
                <a:spcPts val="1200"/>
              </a:spcAft>
              <a:defRPr sz="1600" b="1">
                <a:solidFill>
                  <a:srgbClr val="0F172A"/>
                </a:solidFill>
              </a:defRPr>
            </a:pPr>
            <a:r>
              <a:t>User Sends Message</a:t>
            </a:r>
          </a:p>
          <a:p>
            <a:pPr>
              <a:defRPr sz="1300">
                <a:solidFill>
                  <a:srgbClr val="475569"/>
                </a:solidFill>
              </a:defRPr>
            </a:pPr>
            <a:r>
              <a:t>User types a question or holds mic to speak.</a:t>
            </a:r>
          </a:p>
        </p:txBody>
      </p:sp>
      <p:sp>
        <p:nvSpPr>
          <p:cNvPr id="6" name="Rounded Rectangle 5"/>
          <p:cNvSpPr/>
          <p:nvPr/>
        </p:nvSpPr>
        <p:spPr>
          <a:xfrm>
            <a:off x="2542032" y="1371600"/>
            <a:ext cx="1609344"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554480"/>
            <a:ext cx="1389888" cy="4572000"/>
          </a:xfrm>
          <a:prstGeom prst="rect">
            <a:avLst/>
          </a:prstGeom>
          <a:noFill/>
        </p:spPr>
        <p:txBody>
          <a:bodyPr wrap="square">
            <a:spAutoFit/>
          </a:bodyPr>
          <a:lstStyle/>
          <a:p>
            <a:pPr>
              <a:spcAft>
                <a:spcPts val="400"/>
              </a:spcAft>
              <a:defRPr sz="1300" b="1">
                <a:solidFill>
                  <a:srgbClr val="0E7490"/>
                </a:solidFill>
              </a:defRPr>
            </a:pPr>
            <a:r>
              <a:t>STEP 2</a:t>
            </a:r>
          </a:p>
          <a:p>
            <a:pPr>
              <a:spcAft>
                <a:spcPts val="1200"/>
              </a:spcAft>
              <a:defRPr sz="1600" b="1">
                <a:solidFill>
                  <a:srgbClr val="0F172A"/>
                </a:solidFill>
              </a:defRPr>
            </a:pPr>
            <a:r>
              <a:t>Backend Receives</a:t>
            </a:r>
          </a:p>
          <a:p>
            <a:pPr>
              <a:defRPr sz="1300">
                <a:solidFill>
                  <a:srgbClr val="475569"/>
                </a:solidFill>
              </a:defRPr>
            </a:pPr>
            <a:r>
              <a:t>FastAPI checks request format and user token.</a:t>
            </a:r>
          </a:p>
        </p:txBody>
      </p:sp>
      <p:sp>
        <p:nvSpPr>
          <p:cNvPr id="8" name="Rounded Rectangle 7"/>
          <p:cNvSpPr/>
          <p:nvPr/>
        </p:nvSpPr>
        <p:spPr>
          <a:xfrm>
            <a:off x="4352544" y="1371600"/>
            <a:ext cx="1609344"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62272" y="1554480"/>
            <a:ext cx="1389888" cy="4572000"/>
          </a:xfrm>
          <a:prstGeom prst="rect">
            <a:avLst/>
          </a:prstGeom>
          <a:noFill/>
        </p:spPr>
        <p:txBody>
          <a:bodyPr wrap="square">
            <a:spAutoFit/>
          </a:bodyPr>
          <a:lstStyle/>
          <a:p>
            <a:pPr>
              <a:spcAft>
                <a:spcPts val="400"/>
              </a:spcAft>
              <a:defRPr sz="1300" b="1">
                <a:solidFill>
                  <a:srgbClr val="059669"/>
                </a:solidFill>
              </a:defRPr>
            </a:pPr>
            <a:r>
              <a:t>STEP 3</a:t>
            </a:r>
          </a:p>
          <a:p>
            <a:pPr>
              <a:spcAft>
                <a:spcPts val="1200"/>
              </a:spcAft>
              <a:defRPr sz="1600" b="1">
                <a:solidFill>
                  <a:srgbClr val="0F172A"/>
                </a:solidFill>
              </a:defRPr>
            </a:pPr>
            <a:r>
              <a:t>Orchestrator Decides</a:t>
            </a:r>
          </a:p>
          <a:p>
            <a:pPr>
              <a:defRPr sz="1300">
                <a:solidFill>
                  <a:srgbClr val="475569"/>
                </a:solidFill>
              </a:defRPr>
            </a:pPr>
            <a:r>
              <a:t>Identifies intent: Q&amp;A, Service, or Grievance.</a:t>
            </a:r>
          </a:p>
        </p:txBody>
      </p:sp>
      <p:sp>
        <p:nvSpPr>
          <p:cNvPr id="10" name="Rounded Rectangle 9"/>
          <p:cNvSpPr/>
          <p:nvPr/>
        </p:nvSpPr>
        <p:spPr>
          <a:xfrm>
            <a:off x="6163055" y="1371600"/>
            <a:ext cx="1609344"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72783" y="1554480"/>
            <a:ext cx="1389888" cy="4572000"/>
          </a:xfrm>
          <a:prstGeom prst="rect">
            <a:avLst/>
          </a:prstGeom>
          <a:noFill/>
        </p:spPr>
        <p:txBody>
          <a:bodyPr wrap="square">
            <a:spAutoFit/>
          </a:bodyPr>
          <a:lstStyle/>
          <a:p>
            <a:pPr>
              <a:spcAft>
                <a:spcPts val="400"/>
              </a:spcAft>
              <a:defRPr sz="1300" b="1">
                <a:solidFill>
                  <a:srgbClr val="1D4ED8"/>
                </a:solidFill>
              </a:defRPr>
            </a:pPr>
            <a:r>
              <a:t>STEP 4</a:t>
            </a:r>
          </a:p>
          <a:p>
            <a:pPr>
              <a:spcAft>
                <a:spcPts val="1200"/>
              </a:spcAft>
              <a:defRPr sz="1600" b="1">
                <a:solidFill>
                  <a:srgbClr val="0F172A"/>
                </a:solidFill>
              </a:defRPr>
            </a:pPr>
            <a:r>
              <a:t>Module Executes</a:t>
            </a:r>
          </a:p>
          <a:p>
            <a:pPr>
              <a:defRPr sz="1300">
                <a:solidFill>
                  <a:srgbClr val="475569"/>
                </a:solidFill>
              </a:defRPr>
            </a:pPr>
            <a:r>
              <a:t>RAG finds docs, or service queries database.</a:t>
            </a:r>
          </a:p>
        </p:txBody>
      </p:sp>
      <p:sp>
        <p:nvSpPr>
          <p:cNvPr id="12" name="Rounded Rectangle 11"/>
          <p:cNvSpPr/>
          <p:nvPr/>
        </p:nvSpPr>
        <p:spPr>
          <a:xfrm>
            <a:off x="7973568" y="1371600"/>
            <a:ext cx="1609344"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83296" y="1554480"/>
            <a:ext cx="1389888" cy="4572000"/>
          </a:xfrm>
          <a:prstGeom prst="rect">
            <a:avLst/>
          </a:prstGeom>
          <a:noFill/>
        </p:spPr>
        <p:txBody>
          <a:bodyPr wrap="square">
            <a:spAutoFit/>
          </a:bodyPr>
          <a:lstStyle/>
          <a:p>
            <a:pPr>
              <a:spcAft>
                <a:spcPts val="400"/>
              </a:spcAft>
              <a:defRPr sz="1300" b="1">
                <a:solidFill>
                  <a:srgbClr val="0E7490"/>
                </a:solidFill>
              </a:defRPr>
            </a:pPr>
            <a:r>
              <a:t>STEP 5</a:t>
            </a:r>
          </a:p>
          <a:p>
            <a:pPr>
              <a:spcAft>
                <a:spcPts val="1200"/>
              </a:spcAft>
              <a:defRPr sz="1600" b="1">
                <a:solidFill>
                  <a:srgbClr val="0F172A"/>
                </a:solidFill>
              </a:defRPr>
            </a:pPr>
            <a:r>
              <a:t>Answer Generated</a:t>
            </a:r>
          </a:p>
          <a:p>
            <a:pPr>
              <a:defRPr sz="1300">
                <a:solidFill>
                  <a:srgbClr val="475569"/>
                </a:solidFill>
              </a:defRPr>
            </a:pPr>
            <a:r>
              <a:t>Llama creates answer or card is prepared.</a:t>
            </a:r>
          </a:p>
        </p:txBody>
      </p:sp>
      <p:sp>
        <p:nvSpPr>
          <p:cNvPr id="14" name="Rounded Rectangle 13"/>
          <p:cNvSpPr/>
          <p:nvPr/>
        </p:nvSpPr>
        <p:spPr>
          <a:xfrm>
            <a:off x="9784080" y="1371600"/>
            <a:ext cx="1609344"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93808" y="1554480"/>
            <a:ext cx="1389888" cy="4572000"/>
          </a:xfrm>
          <a:prstGeom prst="rect">
            <a:avLst/>
          </a:prstGeom>
          <a:noFill/>
        </p:spPr>
        <p:txBody>
          <a:bodyPr wrap="square">
            <a:spAutoFit/>
          </a:bodyPr>
          <a:lstStyle/>
          <a:p>
            <a:pPr>
              <a:spcAft>
                <a:spcPts val="400"/>
              </a:spcAft>
              <a:defRPr sz="1300" b="1">
                <a:solidFill>
                  <a:srgbClr val="059669"/>
                </a:solidFill>
              </a:defRPr>
            </a:pPr>
            <a:r>
              <a:t>STEP 6</a:t>
            </a:r>
          </a:p>
          <a:p>
            <a:pPr>
              <a:spcAft>
                <a:spcPts val="1200"/>
              </a:spcAft>
              <a:defRPr sz="1600" b="1">
                <a:solidFill>
                  <a:srgbClr val="0F172A"/>
                </a:solidFill>
              </a:defRPr>
            </a:pPr>
            <a:r>
              <a:t>Response Streamed</a:t>
            </a:r>
          </a:p>
          <a:p>
            <a:pPr>
              <a:defRPr sz="1300">
                <a:solidFill>
                  <a:srgbClr val="475569"/>
                </a:solidFill>
              </a:defRPr>
            </a:pPr>
            <a:r>
              <a:t>Answer streams to the chat window live.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300" b="1">
                <a:solidFill>
                  <a:srgbClr val="1D4ED8"/>
                </a:solidFill>
              </a:defRPr>
            </a:pPr>
            <a:r>
              <a:t>AI INTEGRATION</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3000" b="1">
                <a:solidFill>
                  <a:srgbClr val="0F172A"/>
                </a:solidFill>
              </a:defRPr>
            </a:pPr>
            <a:r>
              <a:t>How AI Works in Our Project: Llama + Ollama</a:t>
            </a:r>
          </a:p>
        </p:txBody>
      </p:sp>
      <p:sp>
        <p:nvSpPr>
          <p:cNvPr id="4" name="Rounded Rectangle 3"/>
          <p:cNvSpPr/>
          <p:nvPr/>
        </p:nvSpPr>
        <p:spPr>
          <a:xfrm>
            <a:off x="731520" y="1371600"/>
            <a:ext cx="516636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291072" y="1371600"/>
            <a:ext cx="516636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617720" cy="4389120"/>
          </a:xfrm>
          <a:prstGeom prst="rect">
            <a:avLst/>
          </a:prstGeom>
          <a:noFill/>
        </p:spPr>
        <p:txBody>
          <a:bodyPr wrap="square">
            <a:spAutoFit/>
          </a:bodyPr>
          <a:lstStyle/>
          <a:p>
            <a:pPr>
              <a:spcAft>
                <a:spcPts val="1200"/>
              </a:spcAft>
              <a:defRPr sz="1800" b="1">
                <a:solidFill>
                  <a:srgbClr val="1D4ED8"/>
                </a:solidFill>
              </a:defRPr>
            </a:pPr>
            <a:r>
              <a:t>Understanding Llama and Ollama</a:t>
            </a:r>
          </a:p>
          <a:p>
            <a:pPr>
              <a:spcAft>
                <a:spcPts val="1000"/>
              </a:spcAft>
              <a:defRPr sz="1400" b="1">
                <a:solidFill>
                  <a:srgbClr val="0F172A"/>
                </a:solidFill>
              </a:defRPr>
            </a:pPr>
            <a:r>
              <a:t>🎯 Llama 3.2: </a:t>
            </a:r>
            <a:r>
              <a:rPr b="0">
                <a:solidFill>
                  <a:srgbClr val="475569"/>
                </a:solidFill>
              </a:rPr>
              <a:t>The AI model that reads the question and context to write the final answer.</a:t>
            </a:r>
          </a:p>
          <a:p>
            <a:pPr>
              <a:spcAft>
                <a:spcPts val="1000"/>
              </a:spcAft>
              <a:defRPr sz="1400" b="1">
                <a:solidFill>
                  <a:srgbClr val="0F172A"/>
                </a:solidFill>
              </a:defRPr>
            </a:pPr>
            <a:r>
              <a:t>🎯 Ollama: </a:t>
            </a:r>
            <a:r>
              <a:rPr b="0">
                <a:solidFill>
                  <a:srgbClr val="475569"/>
                </a:solidFill>
              </a:rPr>
              <a:t>The tool that runs Llama locally on the server without needing third-party clouds.</a:t>
            </a:r>
          </a:p>
          <a:p>
            <a:pPr>
              <a:spcAft>
                <a:spcPts val="1000"/>
              </a:spcAft>
              <a:defRPr sz="1400" b="1">
                <a:solidFill>
                  <a:srgbClr val="0F172A"/>
                </a:solidFill>
              </a:defRPr>
            </a:pPr>
            <a:r>
              <a:t>🎯 Local Execution: </a:t>
            </a:r>
            <a:r>
              <a:rPr b="0">
                <a:solidFill>
                  <a:srgbClr val="475569"/>
                </a:solidFill>
              </a:rPr>
              <a:t>Keeps student questions on our server, protecting privacy.</a:t>
            </a:r>
          </a:p>
          <a:p>
            <a:pPr>
              <a:spcAft>
                <a:spcPts val="1000"/>
              </a:spcAft>
              <a:defRPr sz="1400" b="1">
                <a:solidFill>
                  <a:srgbClr val="0F172A"/>
                </a:solidFill>
              </a:defRPr>
            </a:pPr>
            <a:r>
              <a:t>🎯 Practical Size: </a:t>
            </a:r>
            <a:r>
              <a:rPr b="0">
                <a:solidFill>
                  <a:srgbClr val="475569"/>
                </a:solidFill>
              </a:rPr>
              <a:t>We use Llama 3.2 (1B) because it is lightweight and runs smoothly on standard hardware.</a:t>
            </a:r>
          </a:p>
        </p:txBody>
      </p:sp>
      <p:sp>
        <p:nvSpPr>
          <p:cNvPr id="7" name="TextBox 6"/>
          <p:cNvSpPr txBox="1"/>
          <p:nvPr/>
        </p:nvSpPr>
        <p:spPr>
          <a:xfrm>
            <a:off x="6565392" y="1645920"/>
            <a:ext cx="4617720" cy="4389120"/>
          </a:xfrm>
          <a:prstGeom prst="rect">
            <a:avLst/>
          </a:prstGeom>
          <a:noFill/>
        </p:spPr>
        <p:txBody>
          <a:bodyPr wrap="square">
            <a:spAutoFit/>
          </a:bodyPr>
          <a:lstStyle/>
          <a:p>
            <a:pPr>
              <a:spcAft>
                <a:spcPts val="1200"/>
              </a:spcAft>
              <a:defRPr sz="1800" b="1">
                <a:solidFill>
                  <a:srgbClr val="059669"/>
                </a:solidFill>
              </a:defRPr>
            </a:pPr>
            <a:r>
              <a:t>How the Answer is Generated</a:t>
            </a:r>
          </a:p>
          <a:p>
            <a:pPr>
              <a:spcAft>
                <a:spcPts val="1000"/>
              </a:spcAft>
              <a:defRPr sz="1400" b="1">
                <a:solidFill>
                  <a:srgbClr val="0F172A"/>
                </a:solidFill>
              </a:defRPr>
            </a:pPr>
            <a:r>
              <a:t>🎯 1. User Asks Question: </a:t>
            </a:r>
            <a:r>
              <a:rPr b="0">
                <a:solidFill>
                  <a:srgbClr val="475569"/>
                </a:solidFill>
              </a:rPr>
              <a:t>For example: 'What is the fee for BCA?'</a:t>
            </a:r>
          </a:p>
          <a:p>
            <a:pPr>
              <a:spcAft>
                <a:spcPts val="1000"/>
              </a:spcAft>
              <a:defRPr sz="1400" b="1">
                <a:solidFill>
                  <a:srgbClr val="0F172A"/>
                </a:solidFill>
              </a:defRPr>
            </a:pPr>
            <a:r>
              <a:t>🎯 2. Context Injected: </a:t>
            </a:r>
            <a:r>
              <a:rPr b="0">
                <a:solidFill>
                  <a:srgbClr val="475569"/>
                </a:solidFill>
              </a:rPr>
              <a:t>The system attaches relevant text from official university documents.</a:t>
            </a:r>
          </a:p>
          <a:p>
            <a:pPr>
              <a:spcAft>
                <a:spcPts val="1000"/>
              </a:spcAft>
              <a:defRPr sz="1400" b="1">
                <a:solidFill>
                  <a:srgbClr val="0F172A"/>
                </a:solidFill>
              </a:defRPr>
            </a:pPr>
            <a:r>
              <a:t>🎯 3. Prompt Sent to Ollama: </a:t>
            </a:r>
            <a:r>
              <a:rPr b="0">
                <a:solidFill>
                  <a:srgbClr val="475569"/>
                </a:solidFill>
              </a:rPr>
              <a:t>Llama is told to answer only based on the attached document text.</a:t>
            </a:r>
          </a:p>
          <a:p>
            <a:pPr>
              <a:spcAft>
                <a:spcPts val="1000"/>
              </a:spcAft>
              <a:defRPr sz="1400" b="1">
                <a:solidFill>
                  <a:srgbClr val="0F172A"/>
                </a:solidFill>
              </a:defRPr>
            </a:pPr>
            <a:r>
              <a:t>🎯 4. Safe Fallback: </a:t>
            </a:r>
            <a:r>
              <a:rPr b="0">
                <a:solidFill>
                  <a:srgbClr val="475569"/>
                </a:solidFill>
              </a:rPr>
              <a:t>If Ollama is unavailable, the system safely shows university contact details instead of crashing.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300" b="1">
                <a:solidFill>
                  <a:srgbClr val="1D4ED8"/>
                </a:solidFill>
              </a:defRPr>
            </a:pPr>
            <a:r>
              <a:t>KNOWLEDGE ENGINE</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3000" b="1">
                <a:solidFill>
                  <a:srgbClr val="0F172A"/>
                </a:solidFill>
              </a:defRPr>
            </a:pPr>
            <a:r>
              <a:t>RAG: Getting Accurate Answers from Documents</a:t>
            </a:r>
          </a:p>
        </p:txBody>
      </p:sp>
      <p:sp>
        <p:nvSpPr>
          <p:cNvPr id="4" name="Rounded Rectangle 3"/>
          <p:cNvSpPr/>
          <p:nvPr/>
        </p:nvSpPr>
        <p:spPr>
          <a:xfrm>
            <a:off x="731520" y="1371600"/>
            <a:ext cx="10728655"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00200"/>
            <a:ext cx="10180015" cy="4389120"/>
          </a:xfrm>
          <a:prstGeom prst="rect">
            <a:avLst/>
          </a:prstGeom>
          <a:noFill/>
        </p:spPr>
        <p:txBody>
          <a:bodyPr wrap="square">
            <a:spAutoFit/>
          </a:bodyPr>
          <a:lstStyle/>
          <a:p>
            <a:pPr>
              <a:spcAft>
                <a:spcPts val="1200"/>
              </a:spcAft>
              <a:defRPr sz="1600" b="1">
                <a:solidFill>
                  <a:srgbClr val="1D4ED8"/>
                </a:solidFill>
              </a:defRPr>
            </a:pPr>
            <a:r>
              <a:t>RAG = RETRIEVAL-AUGMENTED GENERATION (Find Info First, Then Answer)</a:t>
            </a:r>
          </a:p>
          <a:p>
            <a:pPr>
              <a:spcAft>
                <a:spcPts val="800"/>
              </a:spcAft>
              <a:defRPr sz="1400" b="1">
                <a:solidFill>
                  <a:srgbClr val="0F172A"/>
                </a:solidFill>
              </a:defRPr>
            </a:pPr>
            <a:r>
              <a:t>✔ Step 1: Upload Documents: </a:t>
            </a:r>
            <a:r>
              <a:rPr b="0">
                <a:solidFill>
                  <a:srgbClr val="475569"/>
                </a:solidFill>
              </a:rPr>
              <a:t>University circulars, syllabi, and statutes (PDF, DOCX, TXT) are uploaded by admin.</a:t>
            </a:r>
          </a:p>
          <a:p>
            <a:pPr>
              <a:spcAft>
                <a:spcPts val="800"/>
              </a:spcAft>
              <a:defRPr sz="1400" b="1">
                <a:solidFill>
                  <a:srgbClr val="0F172A"/>
                </a:solidFill>
              </a:defRPr>
            </a:pPr>
            <a:r>
              <a:t>✔ Step 2: Split into Small Chunks: </a:t>
            </a:r>
            <a:r>
              <a:rPr b="0">
                <a:solidFill>
                  <a:srgbClr val="475569"/>
                </a:solidFill>
              </a:rPr>
              <a:t>Documents are broken into manageable text pieces (around 900 characters each).</a:t>
            </a:r>
          </a:p>
          <a:p>
            <a:pPr>
              <a:spcAft>
                <a:spcPts val="800"/>
              </a:spcAft>
              <a:defRPr sz="1400" b="1">
                <a:solidFill>
                  <a:srgbClr val="0F172A"/>
                </a:solidFill>
              </a:defRPr>
            </a:pPr>
            <a:r>
              <a:t>✔ Step 3: Create Embeddings: </a:t>
            </a:r>
            <a:r>
              <a:rPr b="0">
                <a:solidFill>
                  <a:srgbClr val="475569"/>
                </a:solidFill>
              </a:rPr>
              <a:t>Text chunks are converted into numerical vectors so the computer can understand meaning.</a:t>
            </a:r>
          </a:p>
          <a:p>
            <a:pPr>
              <a:spcAft>
                <a:spcPts val="800"/>
              </a:spcAft>
              <a:defRPr sz="1400" b="1">
                <a:solidFill>
                  <a:srgbClr val="0F172A"/>
                </a:solidFill>
              </a:defRPr>
            </a:pPr>
            <a:r>
              <a:t>✔ Step 4: Store in ChromaDB: </a:t>
            </a:r>
            <a:r>
              <a:rPr b="0">
                <a:solidFill>
                  <a:srgbClr val="475569"/>
                </a:solidFill>
              </a:rPr>
              <a:t>ChromaDB stores these vectors for fast searching.</a:t>
            </a:r>
          </a:p>
          <a:p>
            <a:pPr>
              <a:spcAft>
                <a:spcPts val="800"/>
              </a:spcAft>
              <a:defRPr sz="1400" b="1">
                <a:solidFill>
                  <a:srgbClr val="0F172A"/>
                </a:solidFill>
              </a:defRPr>
            </a:pPr>
            <a:r>
              <a:t>✔ Step 5: User Asks a Question: </a:t>
            </a:r>
            <a:r>
              <a:rPr b="0">
                <a:solidFill>
                  <a:srgbClr val="475569"/>
                </a:solidFill>
              </a:rPr>
              <a:t>The system searches ChromaDB for the most relevant document chunks.</a:t>
            </a:r>
          </a:p>
          <a:p>
            <a:pPr>
              <a:spcAft>
                <a:spcPts val="800"/>
              </a:spcAft>
              <a:defRPr sz="1400" b="1">
                <a:solidFill>
                  <a:srgbClr val="0F172A"/>
                </a:solidFill>
              </a:defRPr>
            </a:pPr>
            <a:r>
              <a:t>✔ Step 6: AI Generates Answer: </a:t>
            </a:r>
            <a:r>
              <a:rPr b="0">
                <a:solidFill>
                  <a:srgbClr val="475569"/>
                </a:solidFill>
              </a:rPr>
              <a:t>The relevant chunks are given to Llama, which creates an answer showing document citations.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300" b="1">
                <a:solidFill>
                  <a:srgbClr val="1D4ED8"/>
                </a:solidFill>
              </a:defRPr>
            </a:pPr>
            <a:r>
              <a:t>SEARCH METHODS</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3000" b="1">
                <a:solidFill>
                  <a:srgbClr val="0F172A"/>
                </a:solidFill>
              </a:defRPr>
            </a:pPr>
            <a:r>
              <a:t>Hybrid Search: Meaning Search + Keyword Search</a:t>
            </a:r>
          </a:p>
        </p:txBody>
      </p:sp>
      <p:sp>
        <p:nvSpPr>
          <p:cNvPr id="4" name="Rounded Rectangle 3"/>
          <p:cNvSpPr/>
          <p:nvPr/>
        </p:nvSpPr>
        <p:spPr>
          <a:xfrm>
            <a:off x="731520" y="1371600"/>
            <a:ext cx="3328416"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425696" y="1371600"/>
            <a:ext cx="3328416"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119872" y="1371600"/>
            <a:ext cx="3328416"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00200"/>
            <a:ext cx="2871216" cy="4480560"/>
          </a:xfrm>
          <a:prstGeom prst="rect">
            <a:avLst/>
          </a:prstGeom>
          <a:noFill/>
        </p:spPr>
        <p:txBody>
          <a:bodyPr wrap="square">
            <a:spAutoFit/>
          </a:bodyPr>
          <a:lstStyle/>
          <a:p>
            <a:pPr>
              <a:spcAft>
                <a:spcPts val="400"/>
              </a:spcAft>
              <a:defRPr sz="1200" b="1">
                <a:solidFill>
                  <a:srgbClr val="1D4ED8"/>
                </a:solidFill>
              </a:defRPr>
            </a:pPr>
            <a:r>
              <a:t>VECTOR SEARCH</a:t>
            </a:r>
          </a:p>
          <a:p>
            <a:pPr>
              <a:spcAft>
                <a:spcPts val="1400"/>
              </a:spcAft>
              <a:defRPr sz="2000" b="1">
                <a:solidFill>
                  <a:srgbClr val="0F172A"/>
                </a:solidFill>
              </a:defRPr>
            </a:pPr>
            <a:r>
              <a:t>Meaning Search</a:t>
            </a:r>
          </a:p>
          <a:p>
            <a:pPr>
              <a:spcAft>
                <a:spcPts val="1000"/>
              </a:spcAft>
              <a:defRPr sz="1400" b="1">
                <a:solidFill>
                  <a:srgbClr val="0F172A"/>
                </a:solidFill>
              </a:defRPr>
            </a:pPr>
            <a:r>
              <a:t>• How it works: </a:t>
            </a:r>
            <a:r>
              <a:rPr b="0">
                <a:solidFill>
                  <a:srgbClr val="475569"/>
                </a:solidFill>
              </a:rPr>
              <a:t>Uses embeddings stored in ChromaDB.</a:t>
            </a:r>
          </a:p>
          <a:p>
            <a:pPr>
              <a:spcAft>
                <a:spcPts val="1000"/>
              </a:spcAft>
              <a:defRPr sz="1400" b="1">
                <a:solidFill>
                  <a:srgbClr val="0F172A"/>
                </a:solidFill>
              </a:defRPr>
            </a:pPr>
            <a:r>
              <a:t>• Best for: </a:t>
            </a:r>
            <a:r>
              <a:rPr b="0">
                <a:solidFill>
                  <a:srgbClr val="475569"/>
                </a:solidFill>
              </a:rPr>
              <a:t>Understanding questions even if words are phrased differently.</a:t>
            </a:r>
          </a:p>
          <a:p>
            <a:pPr>
              <a:spcAft>
                <a:spcPts val="1000"/>
              </a:spcAft>
              <a:defRPr sz="1400" b="1">
                <a:solidFill>
                  <a:srgbClr val="0F172A"/>
                </a:solidFill>
              </a:defRPr>
            </a:pPr>
            <a:r>
              <a:t>• Example: </a:t>
            </a:r>
            <a:r>
              <a:rPr b="0">
                <a:solidFill>
                  <a:srgbClr val="475569"/>
                </a:solidFill>
              </a:rPr>
              <a:t>Matches 'tuition fee' with 'admission charges'.</a:t>
            </a:r>
          </a:p>
        </p:txBody>
      </p:sp>
      <p:sp>
        <p:nvSpPr>
          <p:cNvPr id="8" name="TextBox 7"/>
          <p:cNvSpPr txBox="1"/>
          <p:nvPr/>
        </p:nvSpPr>
        <p:spPr>
          <a:xfrm>
            <a:off x="4654296" y="1600200"/>
            <a:ext cx="2871216" cy="4480560"/>
          </a:xfrm>
          <a:prstGeom prst="rect">
            <a:avLst/>
          </a:prstGeom>
          <a:noFill/>
        </p:spPr>
        <p:txBody>
          <a:bodyPr wrap="square">
            <a:spAutoFit/>
          </a:bodyPr>
          <a:lstStyle/>
          <a:p>
            <a:pPr>
              <a:spcAft>
                <a:spcPts val="400"/>
              </a:spcAft>
              <a:defRPr sz="1200" b="1">
                <a:solidFill>
                  <a:srgbClr val="0E7490"/>
                </a:solidFill>
              </a:defRPr>
            </a:pPr>
            <a:r>
              <a:t>BM25 SEARCH</a:t>
            </a:r>
          </a:p>
          <a:p>
            <a:pPr>
              <a:spcAft>
                <a:spcPts val="1400"/>
              </a:spcAft>
              <a:defRPr sz="2000" b="1">
                <a:solidFill>
                  <a:srgbClr val="0F172A"/>
                </a:solidFill>
              </a:defRPr>
            </a:pPr>
            <a:r>
              <a:t>Keyword Search</a:t>
            </a:r>
          </a:p>
          <a:p>
            <a:pPr>
              <a:spcAft>
                <a:spcPts val="1000"/>
              </a:spcAft>
              <a:defRPr sz="1400" b="1">
                <a:solidFill>
                  <a:srgbClr val="0F172A"/>
                </a:solidFill>
              </a:defRPr>
            </a:pPr>
            <a:r>
              <a:t>• How it works: </a:t>
            </a:r>
            <a:r>
              <a:rPr b="0">
                <a:solidFill>
                  <a:srgbClr val="475569"/>
                </a:solidFill>
              </a:rPr>
              <a:t>Uses BM25 to find exact matching words.</a:t>
            </a:r>
          </a:p>
          <a:p>
            <a:pPr>
              <a:spcAft>
                <a:spcPts val="1000"/>
              </a:spcAft>
              <a:defRPr sz="1400" b="1">
                <a:solidFill>
                  <a:srgbClr val="0F172A"/>
                </a:solidFill>
              </a:defRPr>
            </a:pPr>
            <a:r>
              <a:t>• Best for: </a:t>
            </a:r>
            <a:r>
              <a:rPr b="0">
                <a:solidFill>
                  <a:srgbClr val="475569"/>
                </a:solidFill>
              </a:rPr>
              <a:t>Finding specific course codes, dates, and circular numbers.</a:t>
            </a:r>
          </a:p>
          <a:p>
            <a:pPr>
              <a:spcAft>
                <a:spcPts val="1000"/>
              </a:spcAft>
              <a:defRPr sz="1400" b="1">
                <a:solidFill>
                  <a:srgbClr val="0F172A"/>
                </a:solidFill>
              </a:defRPr>
            </a:pPr>
            <a:r>
              <a:t>• Example: </a:t>
            </a:r>
            <a:r>
              <a:rPr b="0">
                <a:solidFill>
                  <a:srgbClr val="475569"/>
                </a:solidFill>
              </a:rPr>
              <a:t>Finds exact matches for 'BCA-301' or 'Notification 02'.</a:t>
            </a:r>
          </a:p>
        </p:txBody>
      </p:sp>
      <p:sp>
        <p:nvSpPr>
          <p:cNvPr id="9" name="TextBox 8"/>
          <p:cNvSpPr txBox="1"/>
          <p:nvPr/>
        </p:nvSpPr>
        <p:spPr>
          <a:xfrm>
            <a:off x="8348472" y="1600200"/>
            <a:ext cx="2871216" cy="4480560"/>
          </a:xfrm>
          <a:prstGeom prst="rect">
            <a:avLst/>
          </a:prstGeom>
          <a:noFill/>
        </p:spPr>
        <p:txBody>
          <a:bodyPr wrap="square">
            <a:spAutoFit/>
          </a:bodyPr>
          <a:lstStyle/>
          <a:p>
            <a:pPr>
              <a:spcAft>
                <a:spcPts val="400"/>
              </a:spcAft>
              <a:defRPr sz="1200" b="1">
                <a:solidFill>
                  <a:srgbClr val="059669"/>
                </a:solidFill>
              </a:defRPr>
            </a:pPr>
            <a:r>
              <a:t>HYBRID RESULT</a:t>
            </a:r>
          </a:p>
          <a:p>
            <a:pPr>
              <a:spcAft>
                <a:spcPts val="1400"/>
              </a:spcAft>
              <a:defRPr sz="2000" b="1">
                <a:solidFill>
                  <a:srgbClr val="0F172A"/>
                </a:solidFill>
              </a:defRPr>
            </a:pPr>
            <a:r>
              <a:t>Combined Together</a:t>
            </a:r>
          </a:p>
          <a:p>
            <a:pPr>
              <a:spcAft>
                <a:spcPts val="1000"/>
              </a:spcAft>
              <a:defRPr sz="1400" b="1">
                <a:solidFill>
                  <a:srgbClr val="0F172A"/>
                </a:solidFill>
              </a:defRPr>
            </a:pPr>
            <a:r>
              <a:t>• Best of both: </a:t>
            </a:r>
            <a:r>
              <a:rPr b="0">
                <a:solidFill>
                  <a:srgbClr val="475569"/>
                </a:solidFill>
              </a:rPr>
              <a:t>Combines results from meaning search and keyword search.</a:t>
            </a:r>
          </a:p>
          <a:p>
            <a:pPr>
              <a:spcAft>
                <a:spcPts val="1000"/>
              </a:spcAft>
              <a:defRPr sz="1400" b="1">
                <a:solidFill>
                  <a:srgbClr val="0F172A"/>
                </a:solidFill>
              </a:defRPr>
            </a:pPr>
            <a:r>
              <a:t>• Better accuracy: </a:t>
            </a:r>
            <a:r>
              <a:rPr b="0">
                <a:solidFill>
                  <a:srgbClr val="475569"/>
                </a:solidFill>
              </a:rPr>
              <a:t>Ensures we don't miss synonyms or exact codes.</a:t>
            </a:r>
          </a:p>
          <a:p>
            <a:pPr>
              <a:spcAft>
                <a:spcPts val="1000"/>
              </a:spcAft>
              <a:defRPr sz="1400" b="1">
                <a:solidFill>
                  <a:srgbClr val="0F172A"/>
                </a:solidFill>
              </a:defRPr>
            </a:pPr>
            <a:r>
              <a:t>• Result: </a:t>
            </a:r>
            <a:r>
              <a:rPr b="0">
                <a:solidFill>
                  <a:srgbClr val="475569"/>
                </a:solidFill>
              </a:rPr>
              <a:t>The AI receives the most relevant information.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300" b="1">
                <a:solidFill>
                  <a:srgbClr val="1D4ED8"/>
                </a:solidFill>
              </a:defRPr>
            </a:pPr>
            <a:r>
              <a:t>STUDENT SERVICES</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3000" b="1">
                <a:solidFill>
                  <a:srgbClr val="0F172A"/>
                </a:solidFill>
              </a:defRPr>
            </a:pPr>
            <a:r>
              <a:t>Student Services: 15 Services Inside the Chatbot</a:t>
            </a:r>
          </a:p>
        </p:txBody>
      </p:sp>
      <p:sp>
        <p:nvSpPr>
          <p:cNvPr id="4" name="Rounded Rectangle 3"/>
          <p:cNvSpPr/>
          <p:nvPr/>
        </p:nvSpPr>
        <p:spPr>
          <a:xfrm>
            <a:off x="731520" y="1371600"/>
            <a:ext cx="10728655"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00200"/>
            <a:ext cx="10180015" cy="4389120"/>
          </a:xfrm>
          <a:prstGeom prst="rect">
            <a:avLst/>
          </a:prstGeom>
          <a:noFill/>
        </p:spPr>
        <p:txBody>
          <a:bodyPr wrap="square">
            <a:spAutoFit/>
          </a:bodyPr>
          <a:lstStyle/>
          <a:p>
            <a:pPr>
              <a:spcAft>
                <a:spcPts val="1000"/>
              </a:spcAft>
              <a:defRPr sz="1600" b="1">
                <a:solidFill>
                  <a:srgbClr val="1D4ED8"/>
                </a:solidFill>
              </a:defRPr>
            </a:pPr>
            <a:r>
              <a:t>15 SERVICES AVAILABLE DIRECTLY THROUGH CHAT</a:t>
            </a:r>
          </a:p>
          <a:p>
            <a:pPr>
              <a:spcAft>
                <a:spcPts val="800"/>
              </a:spcAft>
              <a:defRPr sz="1300">
                <a:solidFill>
                  <a:srgbClr val="0F172A"/>
                </a:solidFill>
              </a:defRPr>
            </a:pPr>
            <a:r>
              <a:t>✔ 1. Results: View semester marks   |   ✔ 2. Admit Card: Download exam hall ticket and test center details   |   ✔ 3. Exam Form: Check exam form submission and fee status</a:t>
            </a:r>
          </a:p>
          <a:p>
            <a:pPr>
              <a:spcAft>
                <a:spcPts val="800"/>
              </a:spcAft>
              <a:defRPr sz="1300">
                <a:solidFill>
                  <a:srgbClr val="0F172A"/>
                </a:solidFill>
              </a:defRPr>
            </a:pPr>
            <a:r>
              <a:t>✔ 4. Attendance: View subject-wise attendance percentages   |   ✔ 5. Fee Receipt: Check fee payment history and receipt status   |   ✔ 6. Course Registration: View registered core and elective subjects</a:t>
            </a:r>
          </a:p>
          <a:p>
            <a:pPr>
              <a:spcAft>
                <a:spcPts val="800"/>
              </a:spcAft>
              <a:defRPr sz="1300">
                <a:solidFill>
                  <a:srgbClr val="0F172A"/>
                </a:solidFill>
              </a:defRPr>
            </a:pPr>
            <a:r>
              <a:t>✔ 7. Xerox Copy: Apply for photocopy of evaluated answer scripts   |   ✔ 8. Re-evaluation: Apply for re-checking and view reval results   |   ✔ 9. Transcript: Request official transcripts and grade cards</a:t>
            </a:r>
          </a:p>
          <a:p>
            <a:pPr>
              <a:spcAft>
                <a:spcPts val="800"/>
              </a:spcAft>
              <a:defRPr sz="1300">
                <a:solidFill>
                  <a:srgbClr val="0F172A"/>
                </a:solidFill>
              </a:defRPr>
            </a:pPr>
            <a:r>
              <a:t>✔ 10. Degree Status: Check degree certificate issuance status   |   ✔ 11. Backlogs: Check backlog subjects and improvement forms   |   ✔ 12. Student Profile: View personal</a:t>
            </a:r>
          </a:p>
          <a:p>
            <a:pPr>
              <a:spcAft>
                <a:spcPts val="800"/>
              </a:spcAft>
              <a:defRPr sz="1300">
                <a:solidFill>
                  <a:srgbClr val="0F172A"/>
                </a:solidFill>
              </a:defRPr>
            </a:pPr>
            <a:r>
              <a:t>✔ 13. Semester Admission: Check semester admission/re-admission status   |   ✔ 14. Migration Certificate: Apply for college or university migration   |   ✔ 15. Helpdesk Support: Contact university helpdesk for technical support</a:t>
            </a:r>
          </a:p>
          <a:p>
            <a:br/>
            <a:pPr>
              <a:defRPr sz="1300" b="1">
                <a:solidFill>
                  <a:srgbClr val="475569"/>
                </a:solidFill>
              </a:defRPr>
            </a:pPr>
            <a:r>
              <a:t>* Connectors query structured database tables so students get exact, official records inside chat.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300" b="1">
                <a:solidFill>
                  <a:srgbClr val="1D4ED8"/>
                </a:solidFill>
              </a:defRPr>
            </a:pPr>
            <a:r>
              <a:t>SERVICE FLOW</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3000" b="1">
                <a:solidFill>
                  <a:srgbClr val="0F172A"/>
                </a:solidFill>
              </a:defRPr>
            </a:pPr>
            <a:r>
              <a:t>Student Services Flow: Authentication &amp; Service Execution</a:t>
            </a:r>
          </a:p>
        </p:txBody>
      </p:sp>
      <p:sp>
        <p:nvSpPr>
          <p:cNvPr id="4" name="Rounded Rectangle 3"/>
          <p:cNvSpPr/>
          <p:nvPr/>
        </p:nvSpPr>
        <p:spPr>
          <a:xfrm>
            <a:off x="731520" y="1371600"/>
            <a:ext cx="516636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291072" y="1371600"/>
            <a:ext cx="516636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617720" cy="4389120"/>
          </a:xfrm>
          <a:prstGeom prst="rect">
            <a:avLst/>
          </a:prstGeom>
          <a:noFill/>
        </p:spPr>
        <p:txBody>
          <a:bodyPr wrap="square">
            <a:spAutoFit/>
          </a:bodyPr>
          <a:lstStyle/>
          <a:p>
            <a:pPr>
              <a:spcAft>
                <a:spcPts val="1200"/>
              </a:spcAft>
              <a:defRPr sz="1800" b="1">
                <a:solidFill>
                  <a:srgbClr val="1D4ED8"/>
                </a:solidFill>
              </a:defRPr>
            </a:pPr>
            <a:r>
              <a:t>How Authentication Works</a:t>
            </a:r>
          </a:p>
          <a:p>
            <a:pPr>
              <a:spcAft>
                <a:spcPts val="1000"/>
              </a:spcAft>
              <a:defRPr sz="1400" b="1">
                <a:solidFill>
                  <a:srgbClr val="0F172A"/>
                </a:solidFill>
              </a:defRPr>
            </a:pPr>
            <a:r>
              <a:t>🎯 1. Protected Request: </a:t>
            </a:r>
            <a:r>
              <a:rPr b="0">
                <a:solidFill>
                  <a:srgbClr val="475569"/>
                </a:solidFill>
              </a:rPr>
              <a:t>Student asks for Results, Attendance, or Fee receipt.</a:t>
            </a:r>
          </a:p>
          <a:p>
            <a:pPr>
              <a:spcAft>
                <a:spcPts val="1000"/>
              </a:spcAft>
              <a:defRPr sz="1400" b="1">
                <a:solidFill>
                  <a:srgbClr val="0F172A"/>
                </a:solidFill>
              </a:defRPr>
            </a:pPr>
            <a:r>
              <a:t>🎯 2. In-Chat Login Prompt: </a:t>
            </a:r>
            <a:r>
              <a:rPr b="0">
                <a:solidFill>
                  <a:srgbClr val="475569"/>
                </a:solidFill>
              </a:rPr>
              <a:t>Chatbot shows a clean form asking for Registration ID and Password.</a:t>
            </a:r>
          </a:p>
          <a:p>
            <a:pPr>
              <a:spcAft>
                <a:spcPts val="1000"/>
              </a:spcAft>
              <a:defRPr sz="1400" b="1">
                <a:solidFill>
                  <a:srgbClr val="0F172A"/>
                </a:solidFill>
              </a:defRPr>
            </a:pPr>
            <a:r>
              <a:t>🎯 3. Secure Verification: </a:t>
            </a:r>
            <a:r>
              <a:rPr b="0">
                <a:solidFill>
                  <a:srgbClr val="475569"/>
                </a:solidFill>
              </a:rPr>
              <a:t>Password is verified against database using secure hashing (bcrypt).</a:t>
            </a:r>
          </a:p>
          <a:p>
            <a:pPr>
              <a:spcAft>
                <a:spcPts val="1000"/>
              </a:spcAft>
              <a:defRPr sz="1400" b="1">
                <a:solidFill>
                  <a:srgbClr val="0F172A"/>
                </a:solidFill>
              </a:defRPr>
            </a:pPr>
            <a:r>
              <a:t>🎯 4. Session Created: </a:t>
            </a:r>
            <a:r>
              <a:rPr b="0">
                <a:solidFill>
                  <a:srgbClr val="475569"/>
                </a:solidFill>
              </a:rPr>
              <a:t>A temporary session token is created for 24 hours so student doesn't have to log in repeatedly.</a:t>
            </a:r>
          </a:p>
        </p:txBody>
      </p:sp>
      <p:sp>
        <p:nvSpPr>
          <p:cNvPr id="7" name="TextBox 6"/>
          <p:cNvSpPr txBox="1"/>
          <p:nvPr/>
        </p:nvSpPr>
        <p:spPr>
          <a:xfrm>
            <a:off x="6565392" y="1645920"/>
            <a:ext cx="4617720" cy="4389120"/>
          </a:xfrm>
          <a:prstGeom prst="rect">
            <a:avLst/>
          </a:prstGeom>
          <a:noFill/>
        </p:spPr>
        <p:txBody>
          <a:bodyPr wrap="square">
            <a:spAutoFit/>
          </a:bodyPr>
          <a:lstStyle/>
          <a:p>
            <a:pPr>
              <a:spcAft>
                <a:spcPts val="1200"/>
              </a:spcAft>
              <a:defRPr sz="1800" b="1">
                <a:solidFill>
                  <a:srgbClr val="059669"/>
                </a:solidFill>
              </a:defRPr>
            </a:pPr>
            <a:r>
              <a:t>Examples of Service Flows</a:t>
            </a:r>
          </a:p>
          <a:p>
            <a:pPr>
              <a:spcAft>
                <a:spcPts val="1000"/>
              </a:spcAft>
              <a:defRPr sz="1400" b="1">
                <a:solidFill>
                  <a:srgbClr val="0F172A"/>
                </a:solidFill>
              </a:defRPr>
            </a:pPr>
            <a:r>
              <a:t>🎯 Results Flow: </a:t>
            </a:r>
            <a:r>
              <a:rPr b="0">
                <a:solidFill>
                  <a:srgbClr val="475569"/>
                </a:solidFill>
              </a:rPr>
              <a:t>Student logs in $\rightarrow$ Selects Semester chip $\rightarrow$ Result card displays subjects, marks, SGPA, and status.</a:t>
            </a:r>
          </a:p>
          <a:p>
            <a:pPr>
              <a:spcAft>
                <a:spcPts val="1000"/>
              </a:spcAft>
              <a:defRPr sz="1400" b="1">
                <a:solidFill>
                  <a:srgbClr val="0F172A"/>
                </a:solidFill>
              </a:defRPr>
            </a:pPr>
            <a:r>
              <a:t>🎯 Xerox Copy Flow: </a:t>
            </a:r>
            <a:r>
              <a:rPr b="0">
                <a:solidFill>
                  <a:srgbClr val="475569"/>
                </a:solidFill>
              </a:rPr>
              <a:t>Student logs in $\rightarrow$ Selects Semester $\rightarrow$ Chooses Subject $\rightarrow$ Submits xerox request $\rightarrow$ Receives confirmation.</a:t>
            </a:r>
          </a:p>
          <a:p>
            <a:pPr>
              <a:spcAft>
                <a:spcPts val="1000"/>
              </a:spcAft>
              <a:defRPr sz="1400" b="1">
                <a:solidFill>
                  <a:srgbClr val="0F172A"/>
                </a:solidFill>
              </a:defRPr>
            </a:pPr>
            <a:r>
              <a:t>🎯 Session Logout: </a:t>
            </a:r>
            <a:r>
              <a:rPr b="0">
                <a:solidFill>
                  <a:srgbClr val="475569"/>
                </a:solidFill>
              </a:rPr>
              <a:t>Typing 'logout' immediately ends the session and resets the chat.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300" b="1">
                <a:solidFill>
                  <a:srgbClr val="1D4ED8"/>
                </a:solidFill>
              </a:defRPr>
            </a:pPr>
            <a:r>
              <a:t>GRIEVANCE SYSTEM</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3000" b="1">
                <a:solidFill>
                  <a:srgbClr val="0F172A"/>
                </a:solidFill>
              </a:defRPr>
            </a:pPr>
            <a:r>
              <a:t>Grievance Redressal: Submitting and Tracking Complaints</a:t>
            </a:r>
          </a:p>
        </p:txBody>
      </p:sp>
      <p:sp>
        <p:nvSpPr>
          <p:cNvPr id="4" name="Rounded Rectangle 3"/>
          <p:cNvSpPr/>
          <p:nvPr/>
        </p:nvSpPr>
        <p:spPr>
          <a:xfrm>
            <a:off x="731520" y="1371600"/>
            <a:ext cx="10728655"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00200"/>
            <a:ext cx="10180015" cy="4389120"/>
          </a:xfrm>
          <a:prstGeom prst="rect">
            <a:avLst/>
          </a:prstGeom>
          <a:noFill/>
        </p:spPr>
        <p:txBody>
          <a:bodyPr wrap="square">
            <a:spAutoFit/>
          </a:bodyPr>
          <a:lstStyle/>
          <a:p>
            <a:pPr>
              <a:spcAft>
                <a:spcPts val="1000"/>
              </a:spcAft>
              <a:defRPr sz="1600" b="1">
                <a:solidFill>
                  <a:srgbClr val="1D4ED8"/>
                </a:solidFill>
              </a:defRPr>
            </a:pPr>
            <a:r>
              <a:t>HOW STUDENTS SUBMIT AND TRACK COMPLAINTS</a:t>
            </a:r>
          </a:p>
          <a:p>
            <a:pPr>
              <a:spcAft>
                <a:spcPts val="600"/>
              </a:spcAft>
              <a:defRPr sz="1400" b="1">
                <a:solidFill>
                  <a:srgbClr val="0F172A"/>
                </a:solidFill>
              </a:defRPr>
            </a:pPr>
            <a:r>
              <a:t>✔ 1. Issue Detected: </a:t>
            </a:r>
            <a:r>
              <a:rPr b="0">
                <a:solidFill>
                  <a:srgbClr val="475569"/>
                </a:solidFill>
              </a:rPr>
              <a:t>If a student says 'admit card not generated' or 'fee deducted twice', grievance mode opens.</a:t>
            </a:r>
          </a:p>
          <a:p>
            <a:pPr>
              <a:spcAft>
                <a:spcPts val="600"/>
              </a:spcAft>
              <a:defRPr sz="1400" b="1">
                <a:solidFill>
                  <a:srgbClr val="0F172A"/>
                </a:solidFill>
              </a:defRPr>
            </a:pPr>
            <a:r>
              <a:t>✔ 2. AI Draft Assistance: </a:t>
            </a:r>
            <a:r>
              <a:rPr b="0">
                <a:solidFill>
                  <a:srgbClr val="475569"/>
                </a:solidFill>
              </a:rPr>
              <a:t>AI can rewrite a short, informal complaint into a polite, formal letter with clear facts.</a:t>
            </a:r>
          </a:p>
          <a:p>
            <a:pPr>
              <a:spcAft>
                <a:spcPts val="600"/>
              </a:spcAft>
              <a:defRPr sz="1400" b="1">
                <a:solidFill>
                  <a:srgbClr val="0F172A"/>
                </a:solidFill>
              </a:defRPr>
            </a:pPr>
            <a:r>
              <a:t>✔ 3. Student Reviews &amp; Edits: </a:t>
            </a:r>
            <a:r>
              <a:rPr b="0">
                <a:solidFill>
                  <a:srgbClr val="475569"/>
                </a:solidFill>
              </a:rPr>
              <a:t>Student can edit the draft or write their own text manually.</a:t>
            </a:r>
          </a:p>
          <a:p>
            <a:pPr>
              <a:spcAft>
                <a:spcPts val="600"/>
              </a:spcAft>
              <a:defRPr sz="1400" b="1">
                <a:solidFill>
                  <a:srgbClr val="0F172A"/>
                </a:solidFill>
              </a:defRPr>
            </a:pPr>
            <a:r>
              <a:t>✔ 4. Office Matching: </a:t>
            </a:r>
            <a:r>
              <a:rPr b="0">
                <a:solidFill>
                  <a:srgbClr val="475569"/>
                </a:solidFill>
              </a:rPr>
              <a:t>The system recommends the correct authority (e.g. Controller of Examinations, Registrar).</a:t>
            </a:r>
          </a:p>
          <a:p>
            <a:pPr>
              <a:spcAft>
                <a:spcPts val="600"/>
              </a:spcAft>
              <a:defRPr sz="1400" b="1">
                <a:solidFill>
                  <a:srgbClr val="0F172A"/>
                </a:solidFill>
              </a:defRPr>
            </a:pPr>
            <a:r>
              <a:t>✔ 5. Submission &amp; Reference: </a:t>
            </a:r>
            <a:r>
              <a:rPr b="0">
                <a:solidFill>
                  <a:srgbClr val="475569"/>
                </a:solidFill>
              </a:rPr>
              <a:t>Student submits and receives a tracking number (e.g. `CUS-GRV-2026-XXXX`) and secret token.</a:t>
            </a:r>
          </a:p>
          <a:p>
            <a:pPr>
              <a:spcAft>
                <a:spcPts val="600"/>
              </a:spcAft>
              <a:defRPr sz="1400" b="1">
                <a:solidFill>
                  <a:srgbClr val="0F172A"/>
                </a:solidFill>
              </a:defRPr>
            </a:pPr>
            <a:r>
              <a:t>✔ 6. Email Notification: </a:t>
            </a:r>
            <a:r>
              <a:rPr b="0">
                <a:solidFill>
                  <a:srgbClr val="475569"/>
                </a:solidFill>
              </a:rPr>
              <a:t>Confirmation email is sent to the student, and an alert email is sent to the office.</a:t>
            </a:r>
          </a:p>
          <a:p>
            <a:pPr>
              <a:spcAft>
                <a:spcPts val="600"/>
              </a:spcAft>
              <a:defRPr sz="1400" b="1">
                <a:solidFill>
                  <a:srgbClr val="0F172A"/>
                </a:solidFill>
              </a:defRPr>
            </a:pPr>
            <a:r>
              <a:t>✔ 7. Status Tracking: </a:t>
            </a:r>
            <a:r>
              <a:rPr b="0">
                <a:solidFill>
                  <a:srgbClr val="475569"/>
                </a:solidFill>
              </a:rPr>
              <a:t>Students can check grievance status anytime using their reference number.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300" b="1">
                <a:solidFill>
                  <a:srgbClr val="1D4ED8"/>
                </a:solidFill>
              </a:defRPr>
            </a:pPr>
            <a:r>
              <a:t>ADMINISTRATION</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3000" b="1">
                <a:solidFill>
                  <a:srgbClr val="0F172A"/>
                </a:solidFill>
              </a:defRPr>
            </a:pPr>
            <a:r>
              <a:t>Administration: Super Admin &amp; Authority Admin Portals</a:t>
            </a:r>
          </a:p>
        </p:txBody>
      </p:sp>
      <p:sp>
        <p:nvSpPr>
          <p:cNvPr id="4" name="Rounded Rectangle 3"/>
          <p:cNvSpPr/>
          <p:nvPr/>
        </p:nvSpPr>
        <p:spPr>
          <a:xfrm>
            <a:off x="731520" y="1371600"/>
            <a:ext cx="516636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291072" y="1371600"/>
            <a:ext cx="516636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617720" cy="4389120"/>
          </a:xfrm>
          <a:prstGeom prst="rect">
            <a:avLst/>
          </a:prstGeom>
          <a:noFill/>
        </p:spPr>
        <p:txBody>
          <a:bodyPr wrap="square">
            <a:spAutoFit/>
          </a:bodyPr>
          <a:lstStyle/>
          <a:p>
            <a:pPr>
              <a:spcAft>
                <a:spcPts val="1200"/>
              </a:spcAft>
              <a:defRPr sz="1800" b="1">
                <a:solidFill>
                  <a:srgbClr val="1D4ED8"/>
                </a:solidFill>
              </a:defRPr>
            </a:pPr>
            <a:r>
              <a:t>Super Admin Panel (/admin)</a:t>
            </a:r>
          </a:p>
          <a:p>
            <a:pPr>
              <a:spcAft>
                <a:spcPts val="1000"/>
              </a:spcAft>
              <a:defRPr sz="1400" b="1">
                <a:solidFill>
                  <a:srgbClr val="0F172A"/>
                </a:solidFill>
              </a:defRPr>
            </a:pPr>
            <a:r>
              <a:t>🎯 Document Ingestion: </a:t>
            </a:r>
            <a:r>
              <a:rPr b="0">
                <a:solidFill>
                  <a:srgbClr val="475569"/>
                </a:solidFill>
              </a:rPr>
              <a:t>Upload new university PDFs and re-index the knowledge base.</a:t>
            </a:r>
          </a:p>
          <a:p>
            <a:pPr>
              <a:spcAft>
                <a:spcPts val="1000"/>
              </a:spcAft>
              <a:defRPr sz="1400" b="1">
                <a:solidFill>
                  <a:srgbClr val="0F172A"/>
                </a:solidFill>
              </a:defRPr>
            </a:pPr>
            <a:r>
              <a:t>🎯 Website Sync: </a:t>
            </a:r>
            <a:r>
              <a:rPr b="0">
                <a:solidFill>
                  <a:srgbClr val="475569"/>
                </a:solidFill>
              </a:rPr>
              <a:t>Crawl and sync notices from `cusrinagar.edu.in` automatically.</a:t>
            </a:r>
          </a:p>
          <a:p>
            <a:pPr>
              <a:spcAft>
                <a:spcPts val="1000"/>
              </a:spcAft>
              <a:defRPr sz="1400" b="1">
                <a:solidFill>
                  <a:srgbClr val="0F172A"/>
                </a:solidFill>
              </a:defRPr>
            </a:pPr>
            <a:r>
              <a:t>🎯 Manage Syllabus: </a:t>
            </a:r>
            <a:r>
              <a:rPr b="0">
                <a:solidFill>
                  <a:srgbClr val="475569"/>
                </a:solidFill>
              </a:rPr>
              <a:t>Upload and maintain NEP 2020 course catalogues and subjects.</a:t>
            </a:r>
          </a:p>
          <a:p>
            <a:pPr>
              <a:spcAft>
                <a:spcPts val="1000"/>
              </a:spcAft>
              <a:defRPr sz="1400" b="1">
                <a:solidFill>
                  <a:srgbClr val="0F172A"/>
                </a:solidFill>
              </a:defRPr>
            </a:pPr>
            <a:r>
              <a:t>🎯 System Overview: </a:t>
            </a:r>
            <a:r>
              <a:rPr b="0">
                <a:solidFill>
                  <a:srgbClr val="475569"/>
                </a:solidFill>
              </a:rPr>
              <a:t>View total queries, unanswered questions, and user activity.</a:t>
            </a:r>
          </a:p>
        </p:txBody>
      </p:sp>
      <p:sp>
        <p:nvSpPr>
          <p:cNvPr id="7" name="TextBox 6"/>
          <p:cNvSpPr txBox="1"/>
          <p:nvPr/>
        </p:nvSpPr>
        <p:spPr>
          <a:xfrm>
            <a:off x="6565392" y="1645920"/>
            <a:ext cx="4617720" cy="4389120"/>
          </a:xfrm>
          <a:prstGeom prst="rect">
            <a:avLst/>
          </a:prstGeom>
          <a:noFill/>
        </p:spPr>
        <p:txBody>
          <a:bodyPr wrap="square">
            <a:spAutoFit/>
          </a:bodyPr>
          <a:lstStyle/>
          <a:p>
            <a:pPr>
              <a:spcAft>
                <a:spcPts val="1200"/>
              </a:spcAft>
              <a:defRPr sz="1800" b="1">
                <a:solidFill>
                  <a:srgbClr val="059669"/>
                </a:solidFill>
              </a:defRPr>
            </a:pPr>
            <a:r>
              <a:t>Authority Admin (/authority-admin)</a:t>
            </a:r>
          </a:p>
          <a:p>
            <a:pPr>
              <a:spcAft>
                <a:spcPts val="1000"/>
              </a:spcAft>
              <a:defRPr sz="1400" b="1">
                <a:solidFill>
                  <a:srgbClr val="0F172A"/>
                </a:solidFill>
              </a:defRPr>
            </a:pPr>
            <a:r>
              <a:t>🎯 Scoped Access: </a:t>
            </a:r>
            <a:r>
              <a:rPr b="0">
                <a:solidFill>
                  <a:srgbClr val="475569"/>
                </a:solidFill>
              </a:rPr>
              <a:t>Each office (e.g. Examination, Registrar) only sees complaints assigned to them.</a:t>
            </a:r>
          </a:p>
          <a:p>
            <a:pPr>
              <a:spcAft>
                <a:spcPts val="1000"/>
              </a:spcAft>
              <a:defRPr sz="1400" b="1">
                <a:solidFill>
                  <a:srgbClr val="0F172A"/>
                </a:solidFill>
              </a:defRPr>
            </a:pPr>
            <a:r>
              <a:t>🎯 Complaint Dashboard: </a:t>
            </a:r>
            <a:r>
              <a:rPr b="0">
                <a:solidFill>
                  <a:srgbClr val="475569"/>
                </a:solidFill>
              </a:rPr>
              <a:t>View new, unread, in-progress, and resolved grievances.</a:t>
            </a:r>
          </a:p>
          <a:p>
            <a:pPr>
              <a:spcAft>
                <a:spcPts val="1000"/>
              </a:spcAft>
              <a:defRPr sz="1400" b="1">
                <a:solidFill>
                  <a:srgbClr val="0F172A"/>
                </a:solidFill>
              </a:defRPr>
            </a:pPr>
            <a:r>
              <a:t>🎯 Update Status: </a:t>
            </a:r>
            <a:r>
              <a:rPr b="0">
                <a:solidFill>
                  <a:srgbClr val="475569"/>
                </a:solidFill>
              </a:rPr>
              <a:t>Change status from Submitted $\rightarrow$ In Progress $\rightarrow$ Resolved.</a:t>
            </a:r>
          </a:p>
          <a:p>
            <a:pPr>
              <a:spcAft>
                <a:spcPts val="1000"/>
              </a:spcAft>
              <a:defRPr sz="1400" b="1">
                <a:solidFill>
                  <a:srgbClr val="0F172A"/>
                </a:solidFill>
              </a:defRPr>
            </a:pPr>
            <a:r>
              <a:t>🎯 Official Response: </a:t>
            </a:r>
            <a:r>
              <a:rPr b="0">
                <a:solidFill>
                  <a:srgbClr val="475569"/>
                </a:solidFill>
              </a:rPr>
              <a:t>Write an official response which is automatically emailed to the student.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300" b="1">
                <a:solidFill>
                  <a:srgbClr val="1D4ED8"/>
                </a:solidFill>
              </a:defRPr>
            </a:pPr>
            <a:r>
              <a:t>VOICE INPUT</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3000" b="1">
                <a:solidFill>
                  <a:srgbClr val="0F172A"/>
                </a:solidFill>
              </a:defRPr>
            </a:pPr>
            <a:r>
              <a:t>Voice Search: Hold-to-Speak Microphone Feature</a:t>
            </a:r>
          </a:p>
        </p:txBody>
      </p:sp>
      <p:sp>
        <p:nvSpPr>
          <p:cNvPr id="4" name="Rounded Rectangle 3"/>
          <p:cNvSpPr/>
          <p:nvPr/>
        </p:nvSpPr>
        <p:spPr>
          <a:xfrm>
            <a:off x="731520" y="1371600"/>
            <a:ext cx="10728655"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00200"/>
            <a:ext cx="10180015" cy="4389120"/>
          </a:xfrm>
          <a:prstGeom prst="rect">
            <a:avLst/>
          </a:prstGeom>
          <a:noFill/>
        </p:spPr>
        <p:txBody>
          <a:bodyPr wrap="square">
            <a:spAutoFit/>
          </a:bodyPr>
          <a:lstStyle/>
          <a:p>
            <a:pPr>
              <a:spcAft>
                <a:spcPts val="1200"/>
              </a:spcAft>
              <a:defRPr sz="1600" b="1">
                <a:solidFill>
                  <a:srgbClr val="1D4ED8"/>
                </a:solidFill>
              </a:defRPr>
            </a:pPr>
            <a:r>
              <a:t>HOW VOICE SEARCH WORKS IN THE CHATBOT</a:t>
            </a:r>
          </a:p>
          <a:p>
            <a:pPr>
              <a:spcAft>
                <a:spcPts val="800"/>
              </a:spcAft>
              <a:defRPr sz="1400" b="1">
                <a:solidFill>
                  <a:srgbClr val="0F172A"/>
                </a:solidFill>
              </a:defRPr>
            </a:pPr>
            <a:r>
              <a:t>🎙 1. Hold Microphone: </a:t>
            </a:r>
            <a:r>
              <a:rPr b="0">
                <a:solidFill>
                  <a:srgbClr val="475569"/>
                </a:solidFill>
              </a:rPr>
              <a:t>User clicks and holds the mic button on mobile or desktop.</a:t>
            </a:r>
          </a:p>
          <a:p>
            <a:pPr>
              <a:spcAft>
                <a:spcPts val="800"/>
              </a:spcAft>
              <a:defRPr sz="1400" b="1">
                <a:solidFill>
                  <a:srgbClr val="0F172A"/>
                </a:solidFill>
              </a:defRPr>
            </a:pPr>
            <a:r>
              <a:t>🎙 2. Speech Recognition: </a:t>
            </a:r>
            <a:r>
              <a:rPr b="0">
                <a:solidFill>
                  <a:srgbClr val="475569"/>
                </a:solidFill>
              </a:rPr>
              <a:t>Browser's Web Speech API listens and converts speech to text in Indian English (`en-IN`).</a:t>
            </a:r>
          </a:p>
          <a:p>
            <a:pPr>
              <a:spcAft>
                <a:spcPts val="800"/>
              </a:spcAft>
              <a:defRPr sz="1400" b="1">
                <a:solidFill>
                  <a:srgbClr val="0F172A"/>
                </a:solidFill>
              </a:defRPr>
            </a:pPr>
            <a:r>
              <a:t>🎙 3. Live Text Display: </a:t>
            </a:r>
            <a:r>
              <a:rPr b="0">
                <a:solidFill>
                  <a:srgbClr val="475569"/>
                </a:solidFill>
              </a:rPr>
              <a:t>As the user speaks, words appear immediately in the input box for visual feedback.</a:t>
            </a:r>
          </a:p>
          <a:p>
            <a:pPr>
              <a:spcAft>
                <a:spcPts val="800"/>
              </a:spcAft>
              <a:defRPr sz="1400" b="1">
                <a:solidFill>
                  <a:srgbClr val="0F172A"/>
                </a:solidFill>
              </a:defRPr>
            </a:pPr>
            <a:r>
              <a:t>🎙 4. Release to Send: </a:t>
            </a:r>
            <a:r>
              <a:rPr b="0">
                <a:solidFill>
                  <a:srgbClr val="475569"/>
                </a:solidFill>
              </a:rPr>
              <a:t>Releasing the mic button automatically sends the converted text to the chatbot.</a:t>
            </a:r>
          </a:p>
          <a:p>
            <a:pPr>
              <a:spcAft>
                <a:spcPts val="800"/>
              </a:spcAft>
              <a:defRPr sz="1400" b="1">
                <a:solidFill>
                  <a:srgbClr val="0F172A"/>
                </a:solidFill>
              </a:defRPr>
            </a:pPr>
            <a:r>
              <a:t>🎙 5. Existing Chat Pipeline: </a:t>
            </a:r>
            <a:r>
              <a:rPr b="0">
                <a:solidFill>
                  <a:srgbClr val="475569"/>
                </a:solidFill>
              </a:rPr>
              <a:t>The message is processed through the regular chatbot system without needing separate audio servers.</a:t>
            </a:r>
          </a:p>
          <a:p>
            <a:pPr>
              <a:spcAft>
                <a:spcPts val="800"/>
              </a:spcAft>
              <a:defRPr sz="1400" b="1">
                <a:solidFill>
                  <a:srgbClr val="0F172A"/>
                </a:solidFill>
              </a:defRPr>
            </a:pPr>
            <a:r>
              <a:t>🎙 6. Graceful Handling: </a:t>
            </a:r>
            <a:r>
              <a:rPr b="0">
                <a:solidFill>
                  <a:srgbClr val="475569"/>
                </a:solidFill>
              </a:rPr>
              <a:t>If mic access is blocked or unsupported, a clear message is displayed.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300" b="1">
                <a:solidFill>
                  <a:srgbClr val="1D4ED8"/>
                </a:solidFill>
              </a:defRPr>
            </a:pPr>
            <a:r>
              <a:t>SECURITY</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3000" b="1">
                <a:solidFill>
                  <a:srgbClr val="0F172A"/>
                </a:solidFill>
              </a:defRPr>
            </a:pPr>
            <a:r>
              <a:t>Security: Keeping Student Data and System Safe</a:t>
            </a:r>
          </a:p>
        </p:txBody>
      </p:sp>
      <p:sp>
        <p:nvSpPr>
          <p:cNvPr id="4" name="Rounded Rectangle 3"/>
          <p:cNvSpPr/>
          <p:nvPr/>
        </p:nvSpPr>
        <p:spPr>
          <a:xfrm>
            <a:off x="731520" y="1371600"/>
            <a:ext cx="516636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291072" y="1371600"/>
            <a:ext cx="516636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617720" cy="4389120"/>
          </a:xfrm>
          <a:prstGeom prst="rect">
            <a:avLst/>
          </a:prstGeom>
          <a:noFill/>
        </p:spPr>
        <p:txBody>
          <a:bodyPr wrap="square">
            <a:spAutoFit/>
          </a:bodyPr>
          <a:lstStyle/>
          <a:p>
            <a:pPr>
              <a:spcAft>
                <a:spcPts val="1200"/>
              </a:spcAft>
              <a:defRPr sz="1800" b="1">
                <a:solidFill>
                  <a:srgbClr val="1D4ED8"/>
                </a:solidFill>
              </a:defRPr>
            </a:pPr>
            <a:r>
              <a:t>User &amp; Session Security</a:t>
            </a:r>
          </a:p>
          <a:p>
            <a:pPr>
              <a:spcAft>
                <a:spcPts val="1000"/>
              </a:spcAft>
              <a:defRPr sz="1400" b="1">
                <a:solidFill>
                  <a:srgbClr val="0F172A"/>
                </a:solidFill>
              </a:defRPr>
            </a:pPr>
            <a:r>
              <a:t>🎯 Password Hashing: </a:t>
            </a:r>
            <a:r>
              <a:rPr b="0">
                <a:solidFill>
                  <a:srgbClr val="475569"/>
                </a:solidFill>
              </a:rPr>
              <a:t>Passwords are never saved as plain text; hashed using bcrypt with 12 rounds.</a:t>
            </a:r>
          </a:p>
          <a:p>
            <a:pPr>
              <a:spcAft>
                <a:spcPts val="1000"/>
              </a:spcAft>
              <a:defRPr sz="1400" b="1">
                <a:solidFill>
                  <a:srgbClr val="0F172A"/>
                </a:solidFill>
              </a:defRPr>
            </a:pPr>
            <a:r>
              <a:t>🎯 JWT Login Tokens: </a:t>
            </a:r>
            <a:r>
              <a:rPr b="0">
                <a:solidFill>
                  <a:srgbClr val="475569"/>
                </a:solidFill>
              </a:rPr>
              <a:t>User logins use secure JWT tokens with 60-minute expiry.</a:t>
            </a:r>
          </a:p>
          <a:p>
            <a:pPr>
              <a:spcAft>
                <a:spcPts val="1000"/>
              </a:spcAft>
              <a:defRPr sz="1400" b="1">
                <a:solidFill>
                  <a:srgbClr val="0F172A"/>
                </a:solidFill>
              </a:defRPr>
            </a:pPr>
            <a:r>
              <a:t>🎯 Role Permissions: </a:t>
            </a:r>
            <a:r>
              <a:rPr b="0">
                <a:solidFill>
                  <a:srgbClr val="475569"/>
                </a:solidFill>
              </a:rPr>
              <a:t>Different roles (Student, Authority Admin, Super Admin) can only access their allowed pages.</a:t>
            </a:r>
          </a:p>
          <a:p>
            <a:pPr>
              <a:spcAft>
                <a:spcPts val="1000"/>
              </a:spcAft>
              <a:defRPr sz="1400" b="1">
                <a:solidFill>
                  <a:srgbClr val="0F172A"/>
                </a:solidFill>
              </a:defRPr>
            </a:pPr>
            <a:r>
              <a:t>🎯 Zero Credential Storage: </a:t>
            </a:r>
            <a:r>
              <a:rPr b="0">
                <a:solidFill>
                  <a:srgbClr val="475569"/>
                </a:solidFill>
              </a:rPr>
              <a:t>Student passwords are not stored in conversation logs or browser localStorage.</a:t>
            </a:r>
          </a:p>
        </p:txBody>
      </p:sp>
      <p:sp>
        <p:nvSpPr>
          <p:cNvPr id="7" name="TextBox 6"/>
          <p:cNvSpPr txBox="1"/>
          <p:nvPr/>
        </p:nvSpPr>
        <p:spPr>
          <a:xfrm>
            <a:off x="6565392" y="1645920"/>
            <a:ext cx="4617720" cy="4389120"/>
          </a:xfrm>
          <a:prstGeom prst="rect">
            <a:avLst/>
          </a:prstGeom>
          <a:noFill/>
        </p:spPr>
        <p:txBody>
          <a:bodyPr wrap="square">
            <a:spAutoFit/>
          </a:bodyPr>
          <a:lstStyle/>
          <a:p>
            <a:pPr>
              <a:spcAft>
                <a:spcPts val="1200"/>
              </a:spcAft>
              <a:defRPr sz="1800" b="1">
                <a:solidFill>
                  <a:srgbClr val="059669"/>
                </a:solidFill>
              </a:defRPr>
            </a:pPr>
            <a:r>
              <a:t>System Protection</a:t>
            </a:r>
          </a:p>
          <a:p>
            <a:pPr>
              <a:spcAft>
                <a:spcPts val="1000"/>
              </a:spcAft>
              <a:defRPr sz="1400" b="1">
                <a:solidFill>
                  <a:srgbClr val="0F172A"/>
                </a:solidFill>
              </a:defRPr>
            </a:pPr>
            <a:r>
              <a:t>🎯 Rate Limiting: </a:t>
            </a:r>
            <a:r>
              <a:rPr b="0">
                <a:solidFill>
                  <a:srgbClr val="475569"/>
                </a:solidFill>
              </a:rPr>
              <a:t>Limits requests per minute to prevent system abuse and spam.</a:t>
            </a:r>
          </a:p>
          <a:p>
            <a:pPr>
              <a:spcAft>
                <a:spcPts val="1000"/>
              </a:spcAft>
              <a:defRPr sz="1400" b="1">
                <a:solidFill>
                  <a:srgbClr val="0F172A"/>
                </a:solidFill>
              </a:defRPr>
            </a:pPr>
            <a:r>
              <a:t>🎯 Grievance Token Hash: </a:t>
            </a:r>
            <a:r>
              <a:rPr b="0">
                <a:solidFill>
                  <a:srgbClr val="475569"/>
                </a:solidFill>
              </a:rPr>
              <a:t>Secret tracking tokens are hashed using SHA-256 in the database.</a:t>
            </a:r>
          </a:p>
          <a:p>
            <a:pPr>
              <a:spcAft>
                <a:spcPts val="1000"/>
              </a:spcAft>
              <a:defRPr sz="1400" b="1">
                <a:solidFill>
                  <a:srgbClr val="0F172A"/>
                </a:solidFill>
              </a:defRPr>
            </a:pPr>
            <a:r>
              <a:t>🎯 Input Validation: </a:t>
            </a:r>
            <a:r>
              <a:rPr b="0">
                <a:solidFill>
                  <a:srgbClr val="475569"/>
                </a:solidFill>
              </a:rPr>
              <a:t>Pydantic validates all incoming data to block invalid or malicious requests.</a:t>
            </a:r>
          </a:p>
          <a:p>
            <a:pPr>
              <a:spcAft>
                <a:spcPts val="1000"/>
              </a:spcAft>
              <a:defRPr sz="1400" b="1">
                <a:solidFill>
                  <a:srgbClr val="0F172A"/>
                </a:solidFill>
              </a:defRPr>
            </a:pPr>
            <a:r>
              <a:t>🎯 Local Data Safety: </a:t>
            </a:r>
            <a:r>
              <a:rPr b="0">
                <a:solidFill>
                  <a:srgbClr val="475569"/>
                </a:solidFill>
              </a:rPr>
              <a:t>AI inference runs locally through Ollama, keeping data on the server.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300" b="1">
                <a:solidFill>
                  <a:srgbClr val="1D4ED8"/>
                </a:solidFill>
              </a:defRPr>
            </a:pPr>
            <a:r>
              <a:t>DATA STORAGE</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3000" b="1">
                <a:solidFill>
                  <a:srgbClr val="0F172A"/>
                </a:solidFill>
              </a:defRPr>
            </a:pPr>
            <a:r>
              <a:t>Database Design: How Data is Stored</a:t>
            </a:r>
          </a:p>
        </p:txBody>
      </p:sp>
      <p:sp>
        <p:nvSpPr>
          <p:cNvPr id="4" name="Rounded Rectangle 3"/>
          <p:cNvSpPr/>
          <p:nvPr/>
        </p:nvSpPr>
        <p:spPr>
          <a:xfrm>
            <a:off x="731520" y="1371600"/>
            <a:ext cx="10728655"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00200"/>
            <a:ext cx="10180015" cy="4389120"/>
          </a:xfrm>
          <a:prstGeom prst="rect">
            <a:avLst/>
          </a:prstGeom>
          <a:noFill/>
        </p:spPr>
        <p:txBody>
          <a:bodyPr wrap="square">
            <a:spAutoFit/>
          </a:bodyPr>
          <a:lstStyle/>
          <a:p>
            <a:pPr>
              <a:spcAft>
                <a:spcPts val="1000"/>
              </a:spcAft>
              <a:defRPr sz="1600" b="1">
                <a:solidFill>
                  <a:srgbClr val="1D4ED8"/>
                </a:solidFill>
              </a:defRPr>
            </a:pPr>
            <a:r>
              <a:t>TWO STORAGE SYSTEMS: RELATIONAL DATABASE + VECTOR DATABASE</a:t>
            </a:r>
          </a:p>
          <a:p>
            <a:pPr>
              <a:spcAft>
                <a:spcPts val="600"/>
              </a:spcAft>
              <a:defRPr sz="1350" b="1">
                <a:solidFill>
                  <a:srgbClr val="0F172A"/>
                </a:solidFill>
              </a:defRPr>
            </a:pPr>
            <a:r>
              <a:t>• Users &amp; Security: </a:t>
            </a:r>
            <a:r>
              <a:rPr b="0">
                <a:solidFill>
                  <a:srgbClr val="475569"/>
                </a:solidFill>
              </a:rPr>
              <a:t>`users` (roles, authority ID), `refresh_tokens`, `audit_logs` (tracks admin actions).</a:t>
            </a:r>
          </a:p>
          <a:p>
            <a:pPr>
              <a:spcAft>
                <a:spcPts val="600"/>
              </a:spcAft>
              <a:defRPr sz="1350" b="1">
                <a:solidFill>
                  <a:srgbClr val="0F172A"/>
                </a:solidFill>
              </a:defRPr>
            </a:pPr>
            <a:r>
              <a:t>• Student &amp; Academic Records: </a:t>
            </a:r>
            <a:r>
              <a:rPr b="0">
                <a:solidFill>
                  <a:srgbClr val="475569"/>
                </a:solidFill>
              </a:rPr>
              <a:t>`students`, `student_sessions`, `student_results`, `student_attendance`, `student_exam_forms`, `student_backlogs`, `xerox_requests`.</a:t>
            </a:r>
          </a:p>
          <a:p>
            <a:pPr>
              <a:spcAft>
                <a:spcPts val="600"/>
              </a:spcAft>
              <a:defRPr sz="1350" b="1">
                <a:solidFill>
                  <a:srgbClr val="0F172A"/>
                </a:solidFill>
              </a:defRPr>
            </a:pPr>
            <a:r>
              <a:t>• Grievance Records: </a:t>
            </a:r>
            <a:r>
              <a:rPr b="0">
                <a:solidFill>
                  <a:srgbClr val="475569"/>
                </a:solidFill>
              </a:rPr>
              <a:t>`grievances` (complaint text, tracking hash, response), `grievance_status_history` (history log).</a:t>
            </a:r>
          </a:p>
          <a:p>
            <a:pPr>
              <a:spcAft>
                <a:spcPts val="600"/>
              </a:spcAft>
              <a:defRPr sz="1350" b="1">
                <a:solidFill>
                  <a:srgbClr val="0F172A"/>
                </a:solidFill>
              </a:defRPr>
            </a:pPr>
            <a:r>
              <a:t>• Documents &amp; Syllabus: </a:t>
            </a:r>
            <a:r>
              <a:rPr b="0">
                <a:solidFill>
                  <a:srgbClr val="475569"/>
                </a:solidFill>
              </a:rPr>
              <a:t>`documents`, `document_chunks`, `curriculum_uploads`, `programme_subjects`, `learning_outcomes`.</a:t>
            </a:r>
          </a:p>
          <a:p>
            <a:pPr>
              <a:spcAft>
                <a:spcPts val="600"/>
              </a:spcAft>
              <a:defRPr sz="1350" b="1">
                <a:solidFill>
                  <a:srgbClr val="0F172A"/>
                </a:solidFill>
              </a:defRPr>
            </a:pPr>
            <a:r>
              <a:t>• Website Sync Pages: </a:t>
            </a:r>
            <a:r>
              <a:rPr b="0">
                <a:solidFill>
                  <a:srgbClr val="475569"/>
                </a:solidFill>
              </a:rPr>
              <a:t>`website_page_versions` (stores crawled website notices and change history).</a:t>
            </a:r>
          </a:p>
          <a:p>
            <a:pPr>
              <a:spcAft>
                <a:spcPts val="600"/>
              </a:spcAft>
              <a:defRPr sz="1350" b="1">
                <a:solidFill>
                  <a:srgbClr val="0F172A"/>
                </a:solidFill>
              </a:defRPr>
            </a:pPr>
            <a:r>
              <a:t>• ChromaDB Vector Store: </a:t>
            </a:r>
            <a:r>
              <a:rPr b="0">
                <a:solidFill>
                  <a:srgbClr val="475569"/>
                </a:solidFill>
              </a:rPr>
              <a:t>Stores mathematical embeddings of text chunks for fast similarity search.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300" b="1">
                <a:solidFill>
                  <a:srgbClr val="1D4ED8"/>
                </a:solidFill>
              </a:defRPr>
            </a:pPr>
            <a:r>
              <a:t>QUALITY &amp; TESTING</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3000" b="1">
                <a:solidFill>
                  <a:srgbClr val="0F172A"/>
                </a:solidFill>
              </a:defRPr>
            </a:pPr>
            <a:r>
              <a:t>Testing &amp; Verification: How We Tested the System</a:t>
            </a:r>
          </a:p>
        </p:txBody>
      </p:sp>
      <p:sp>
        <p:nvSpPr>
          <p:cNvPr id="4" name="Rounded Rectangle 3"/>
          <p:cNvSpPr/>
          <p:nvPr/>
        </p:nvSpPr>
        <p:spPr>
          <a:xfrm>
            <a:off x="731520" y="1371600"/>
            <a:ext cx="516636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291072" y="1371600"/>
            <a:ext cx="516636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617720" cy="4389120"/>
          </a:xfrm>
          <a:prstGeom prst="rect">
            <a:avLst/>
          </a:prstGeom>
          <a:noFill/>
        </p:spPr>
        <p:txBody>
          <a:bodyPr wrap="square">
            <a:spAutoFit/>
          </a:bodyPr>
          <a:lstStyle/>
          <a:p>
            <a:pPr>
              <a:spcAft>
                <a:spcPts val="1200"/>
              </a:spcAft>
              <a:defRPr sz="1800" b="1">
                <a:solidFill>
                  <a:srgbClr val="1D4ED8"/>
                </a:solidFill>
              </a:defRPr>
            </a:pPr>
            <a:r>
              <a:t>Automated Testing Coverage</a:t>
            </a:r>
          </a:p>
          <a:p>
            <a:pPr>
              <a:spcAft>
                <a:spcPts val="1000"/>
              </a:spcAft>
              <a:defRPr sz="1400" b="1">
                <a:solidFill>
                  <a:srgbClr val="0F172A"/>
                </a:solidFill>
              </a:defRPr>
            </a:pPr>
            <a:r>
              <a:t>🎯 Backend &amp; API Tests: </a:t>
            </a:r>
            <a:r>
              <a:rPr b="0">
                <a:solidFill>
                  <a:srgbClr val="475569"/>
                </a:solidFill>
              </a:rPr>
              <a:t>Verified all API routes, data inputs, and response formats.</a:t>
            </a:r>
          </a:p>
          <a:p>
            <a:pPr>
              <a:spcAft>
                <a:spcPts val="1000"/>
              </a:spcAft>
              <a:defRPr sz="1400" b="1">
                <a:solidFill>
                  <a:srgbClr val="0F172A"/>
                </a:solidFill>
              </a:defRPr>
            </a:pPr>
            <a:r>
              <a:t>🎯 Authentication &amp; RBAC Tests: </a:t>
            </a:r>
            <a:r>
              <a:rPr b="0">
                <a:solidFill>
                  <a:srgbClr val="475569"/>
                </a:solidFill>
              </a:rPr>
              <a:t>Confirmed that students, authority admins, and super admins only access allowed routes.</a:t>
            </a:r>
          </a:p>
          <a:p>
            <a:pPr>
              <a:spcAft>
                <a:spcPts val="1000"/>
              </a:spcAft>
              <a:defRPr sz="1400" b="1">
                <a:solidFill>
                  <a:srgbClr val="0F172A"/>
                </a:solidFill>
              </a:defRPr>
            </a:pPr>
            <a:r>
              <a:t>🎯 Student Services Tests: </a:t>
            </a:r>
            <a:r>
              <a:rPr b="0">
                <a:solidFill>
                  <a:srgbClr val="475569"/>
                </a:solidFill>
              </a:rPr>
              <a:t>Tested results retrieval, semester selection, and session handling.</a:t>
            </a:r>
          </a:p>
          <a:p>
            <a:pPr>
              <a:spcAft>
                <a:spcPts val="1000"/>
              </a:spcAft>
              <a:defRPr sz="1400" b="1">
                <a:solidFill>
                  <a:srgbClr val="0F172A"/>
                </a:solidFill>
              </a:defRPr>
            </a:pPr>
            <a:r>
              <a:t>🎯 Grievance Workflow Tests: </a:t>
            </a:r>
            <a:r>
              <a:rPr b="0">
                <a:solidFill>
                  <a:srgbClr val="475569"/>
                </a:solidFill>
              </a:rPr>
              <a:t>Verified complaint submission, authority matching, and email notifications.</a:t>
            </a:r>
          </a:p>
        </p:txBody>
      </p:sp>
      <p:sp>
        <p:nvSpPr>
          <p:cNvPr id="7" name="TextBox 6"/>
          <p:cNvSpPr txBox="1"/>
          <p:nvPr/>
        </p:nvSpPr>
        <p:spPr>
          <a:xfrm>
            <a:off x="6565392" y="1645920"/>
            <a:ext cx="4617720" cy="4389120"/>
          </a:xfrm>
          <a:prstGeom prst="rect">
            <a:avLst/>
          </a:prstGeom>
          <a:noFill/>
        </p:spPr>
        <p:txBody>
          <a:bodyPr wrap="square">
            <a:spAutoFit/>
          </a:bodyPr>
          <a:lstStyle/>
          <a:p>
            <a:pPr>
              <a:spcAft>
                <a:spcPts val="1200"/>
              </a:spcAft>
              <a:defRPr sz="1800" b="1">
                <a:solidFill>
                  <a:srgbClr val="059669"/>
                </a:solidFill>
              </a:defRPr>
            </a:pPr>
            <a:r>
              <a:t>Important Bugs Fixed During Testing</a:t>
            </a:r>
          </a:p>
          <a:p>
            <a:pPr>
              <a:spcAft>
                <a:spcPts val="1000"/>
              </a:spcAft>
              <a:defRPr sz="1400" b="1">
                <a:solidFill>
                  <a:srgbClr val="0F172A"/>
                </a:solidFill>
              </a:defRPr>
            </a:pPr>
            <a:r>
              <a:t>🎯 Async Streaming Fix: </a:t>
            </a:r>
            <a:r>
              <a:rPr b="0">
                <a:solidFill>
                  <a:srgbClr val="475569"/>
                </a:solidFill>
              </a:rPr>
              <a:t>Changed LLM text generation to asynchronous streaming so server doesn't freeze during responses.</a:t>
            </a:r>
          </a:p>
          <a:p>
            <a:pPr>
              <a:spcAft>
                <a:spcPts val="1000"/>
              </a:spcAft>
              <a:defRPr sz="1400" b="1">
                <a:solidFill>
                  <a:srgbClr val="0F172A"/>
                </a:solidFill>
              </a:defRPr>
            </a:pPr>
            <a:r>
              <a:t>🎯 Database Connector Fix: </a:t>
            </a:r>
            <a:r>
              <a:rPr b="0">
                <a:solidFill>
                  <a:srgbClr val="475569"/>
                </a:solidFill>
              </a:rPr>
              <a:t>Wrapped synchronous database queries in background threads to keep the chat responsive.</a:t>
            </a:r>
          </a:p>
          <a:p>
            <a:pPr>
              <a:spcAft>
                <a:spcPts val="1000"/>
              </a:spcAft>
              <a:defRPr sz="1400" b="1">
                <a:solidFill>
                  <a:srgbClr val="0F172A"/>
                </a:solidFill>
              </a:defRPr>
            </a:pPr>
            <a:r>
              <a:t>🎯 Fuzzy Matcher Fix: </a:t>
            </a:r>
            <a:r>
              <a:rPr b="0">
                <a:solidFill>
                  <a:srgbClr val="475569"/>
                </a:solidFill>
              </a:rPr>
              <a:t>Fixed search helper so service names match even with small spelling errors.</a:t>
            </a:r>
          </a:p>
          <a:p>
            <a:pPr>
              <a:spcAft>
                <a:spcPts val="1000"/>
              </a:spcAft>
              <a:defRPr sz="1400" b="1">
                <a:solidFill>
                  <a:srgbClr val="0F172A"/>
                </a:solidFill>
              </a:defRPr>
            </a:pPr>
            <a:r>
              <a:t>🎯 Frontend JavaScript: </a:t>
            </a:r>
            <a:r>
              <a:rPr b="0">
                <a:solidFill>
                  <a:srgbClr val="475569"/>
                </a:solidFill>
              </a:rPr>
              <a:t>Checked all JavaScript files with syntax validators (0 errors).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300" b="1">
                <a:solidFill>
                  <a:srgbClr val="1D4ED8"/>
                </a:solidFill>
              </a:defRPr>
            </a:pPr>
            <a:r>
              <a:t>PROBLEM SOLVING</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3000" b="1">
                <a:solidFill>
                  <a:srgbClr val="0F172A"/>
                </a:solidFill>
              </a:defRPr>
            </a:pPr>
            <a:r>
              <a:t>Challenges &amp; Solutions: Problems Faced and Resolved</a:t>
            </a:r>
          </a:p>
        </p:txBody>
      </p:sp>
      <p:sp>
        <p:nvSpPr>
          <p:cNvPr id="4" name="Rounded Rectangle 3"/>
          <p:cNvSpPr/>
          <p:nvPr/>
        </p:nvSpPr>
        <p:spPr>
          <a:xfrm>
            <a:off x="731520" y="1371600"/>
            <a:ext cx="10728655"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00200"/>
            <a:ext cx="10180015" cy="4389120"/>
          </a:xfrm>
          <a:prstGeom prst="rect">
            <a:avLst/>
          </a:prstGeom>
          <a:noFill/>
        </p:spPr>
        <p:txBody>
          <a:bodyPr wrap="square">
            <a:spAutoFit/>
          </a:bodyPr>
          <a:lstStyle/>
          <a:p>
            <a:pPr>
              <a:spcAft>
                <a:spcPts val="1000"/>
              </a:spcAft>
              <a:defRPr sz="1600" b="1">
                <a:solidFill>
                  <a:srgbClr val="1D4ED8"/>
                </a:solidFill>
              </a:defRPr>
            </a:pPr>
            <a:r>
              <a:t>KEY ENGINEERING CHALLENGES AND HOW WE OVERCAME THEM</a:t>
            </a:r>
          </a:p>
          <a:p>
            <a:pPr>
              <a:spcAft>
                <a:spcPts val="600"/>
              </a:spcAft>
              <a:defRPr sz="1350" b="1">
                <a:solidFill>
                  <a:srgbClr val="0F172A"/>
                </a:solidFill>
              </a:defRPr>
            </a:pPr>
            <a:r>
              <a:t>⚡ Challenge: AI Guessing / Hallucination  ➔  Solution: </a:t>
            </a:r>
            <a:r>
              <a:rPr b="0">
                <a:solidFill>
                  <a:srgbClr val="475569"/>
                </a:solidFill>
              </a:rPr>
              <a:t>Used RAG to provide actual university documents to the AI before answering.</a:t>
            </a:r>
          </a:p>
          <a:p>
            <a:pPr>
              <a:spcAft>
                <a:spcPts val="600"/>
              </a:spcAft>
              <a:defRPr sz="1350" b="1">
                <a:solidFill>
                  <a:srgbClr val="0F172A"/>
                </a:solidFill>
              </a:defRPr>
            </a:pPr>
            <a:r>
              <a:t>⚡ Challenge: Slow Generation Freezing Server  ➔  Solution: </a:t>
            </a:r>
            <a:r>
              <a:rPr b="0">
                <a:solidFill>
                  <a:srgbClr val="475569"/>
                </a:solidFill>
              </a:rPr>
              <a:t>Implemented asynchronous token streaming so the server stays fast.</a:t>
            </a:r>
          </a:p>
          <a:p>
            <a:pPr>
              <a:spcAft>
                <a:spcPts val="600"/>
              </a:spcAft>
              <a:defRPr sz="1350" b="1">
                <a:solidFill>
                  <a:srgbClr val="0F172A"/>
                </a:solidFill>
              </a:defRPr>
            </a:pPr>
            <a:r>
              <a:t>⚡ Challenge: Exact Course Codes  ➔  Solution: </a:t>
            </a:r>
            <a:r>
              <a:rPr b="0">
                <a:solidFill>
                  <a:srgbClr val="475569"/>
                </a:solidFill>
              </a:rPr>
              <a:t>Added BM25 keyword search alongside vector search to catch exact codes like 'BCA-101'.</a:t>
            </a:r>
          </a:p>
          <a:p>
            <a:pPr>
              <a:spcAft>
                <a:spcPts val="600"/>
              </a:spcAft>
              <a:defRPr sz="1350" b="1">
                <a:solidFill>
                  <a:srgbClr val="0F172A"/>
                </a:solidFill>
              </a:defRPr>
            </a:pPr>
            <a:r>
              <a:t>⚡ Challenge: Student Privacy  ➔  Solution: </a:t>
            </a:r>
            <a:r>
              <a:rPr b="0">
                <a:solidFill>
                  <a:srgbClr val="475569"/>
                </a:solidFill>
              </a:rPr>
              <a:t>Used local Llama through Ollama and avoided storing passwords in conversation history.</a:t>
            </a:r>
          </a:p>
          <a:p>
            <a:pPr>
              <a:spcAft>
                <a:spcPts val="600"/>
              </a:spcAft>
              <a:defRPr sz="1350" b="1">
                <a:solidFill>
                  <a:srgbClr val="0F172A"/>
                </a:solidFill>
              </a:defRPr>
            </a:pPr>
            <a:r>
              <a:t>⚡ Challenge: Informal Complaints  ➔  Solution: </a:t>
            </a:r>
            <a:r>
              <a:rPr b="0">
                <a:solidFill>
                  <a:srgbClr val="475569"/>
                </a:solidFill>
              </a:rPr>
              <a:t>Added AI draft formalization to help students format complaints with clear facts.</a:t>
            </a:r>
          </a:p>
          <a:p>
            <a:pPr>
              <a:spcAft>
                <a:spcPts val="600"/>
              </a:spcAft>
              <a:defRPr sz="1350" b="1">
                <a:solidFill>
                  <a:srgbClr val="0F172A"/>
                </a:solidFill>
              </a:defRPr>
            </a:pPr>
            <a:r>
              <a:t>⚡ Challenge: Wrong Office Selection  ➔  Solution: </a:t>
            </a:r>
            <a:r>
              <a:rPr b="0">
                <a:solidFill>
                  <a:srgbClr val="475569"/>
                </a:solidFill>
              </a:rPr>
              <a:t>Created an authority keyword matcher that suggests the responsible department.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300" b="1">
                <a:solidFill>
                  <a:srgbClr val="1D4ED8"/>
                </a:solidFill>
              </a:defRPr>
            </a:pPr>
            <a:r>
              <a:t>DEMONSTRATION</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3000" b="1">
                <a:solidFill>
                  <a:srgbClr val="0F172A"/>
                </a:solidFill>
              </a:defRPr>
            </a:pPr>
            <a:r>
              <a:t>Live Demonstration: 5 Quick Steps to Demo the Project</a:t>
            </a:r>
          </a:p>
        </p:txBody>
      </p:sp>
      <p:sp>
        <p:nvSpPr>
          <p:cNvPr id="4" name="Rounded Rectangle 3"/>
          <p:cNvSpPr/>
          <p:nvPr/>
        </p:nvSpPr>
        <p:spPr>
          <a:xfrm>
            <a:off x="731520" y="1371600"/>
            <a:ext cx="1965960" cy="4937760"/>
          </a:xfrm>
          <a:prstGeom prst="roundRect">
            <a:avLst/>
          </a:prstGeom>
          <a:solidFill>
            <a:srgbClr val="EFF6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600200"/>
            <a:ext cx="1746504" cy="4480560"/>
          </a:xfrm>
          <a:prstGeom prst="rect">
            <a:avLst/>
          </a:prstGeom>
          <a:noFill/>
        </p:spPr>
        <p:txBody>
          <a:bodyPr wrap="square">
            <a:spAutoFit/>
          </a:bodyPr>
          <a:lstStyle/>
          <a:p>
            <a:pPr>
              <a:spcAft>
                <a:spcPts val="400"/>
              </a:spcAft>
              <a:defRPr sz="1300" b="1">
                <a:solidFill>
                  <a:srgbClr val="1D4ED8"/>
                </a:solidFill>
              </a:defRPr>
            </a:pPr>
            <a:r>
              <a:t>DEMO 1</a:t>
            </a:r>
          </a:p>
          <a:p>
            <a:pPr>
              <a:spcAft>
                <a:spcPts val="1200"/>
              </a:spcAft>
              <a:defRPr sz="1600" b="1">
                <a:solidFill>
                  <a:srgbClr val="0F172A"/>
                </a:solidFill>
              </a:defRPr>
            </a:pPr>
            <a:r>
              <a:t>University Q&amp;A</a:t>
            </a:r>
          </a:p>
          <a:p>
            <a:pPr>
              <a:defRPr sz="1300">
                <a:solidFill>
                  <a:srgbClr val="475569"/>
                </a:solidFill>
              </a:defRPr>
            </a:pPr>
            <a:r>
              <a:t>Ask 'What is BCA fee?' $\rightarrow$ Bot gives answer with cited document.</a:t>
            </a:r>
          </a:p>
        </p:txBody>
      </p:sp>
      <p:sp>
        <p:nvSpPr>
          <p:cNvPr id="6" name="Rounded Rectangle 5"/>
          <p:cNvSpPr/>
          <p:nvPr/>
        </p:nvSpPr>
        <p:spPr>
          <a:xfrm>
            <a:off x="2907791" y="1371600"/>
            <a:ext cx="196596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17520" y="1600200"/>
            <a:ext cx="1746504" cy="4480560"/>
          </a:xfrm>
          <a:prstGeom prst="rect">
            <a:avLst/>
          </a:prstGeom>
          <a:noFill/>
        </p:spPr>
        <p:txBody>
          <a:bodyPr wrap="square">
            <a:spAutoFit/>
          </a:bodyPr>
          <a:lstStyle/>
          <a:p>
            <a:pPr>
              <a:spcAft>
                <a:spcPts val="400"/>
              </a:spcAft>
              <a:defRPr sz="1300" b="1">
                <a:solidFill>
                  <a:srgbClr val="1D4ED8"/>
                </a:solidFill>
              </a:defRPr>
            </a:pPr>
            <a:r>
              <a:t>DEMO 2</a:t>
            </a:r>
          </a:p>
          <a:p>
            <a:pPr>
              <a:spcAft>
                <a:spcPts val="1200"/>
              </a:spcAft>
              <a:defRPr sz="1600" b="1">
                <a:solidFill>
                  <a:srgbClr val="0F172A"/>
                </a:solidFill>
              </a:defRPr>
            </a:pPr>
            <a:r>
              <a:t>Student Services</a:t>
            </a:r>
          </a:p>
          <a:p>
            <a:pPr>
              <a:defRPr sz="1300">
                <a:solidFill>
                  <a:srgbClr val="475569"/>
                </a:solidFill>
              </a:defRPr>
            </a:pPr>
            <a:r>
              <a:t>Type 'results' $\rightarrow$ Login $\rightarrow$ Choose semester $\rightarrow$ View marks card.</a:t>
            </a:r>
          </a:p>
        </p:txBody>
      </p:sp>
      <p:sp>
        <p:nvSpPr>
          <p:cNvPr id="8" name="Rounded Rectangle 7"/>
          <p:cNvSpPr/>
          <p:nvPr/>
        </p:nvSpPr>
        <p:spPr>
          <a:xfrm>
            <a:off x="5084064" y="1371600"/>
            <a:ext cx="1965960" cy="4937760"/>
          </a:xfrm>
          <a:prstGeom prst="roundRect">
            <a:avLst/>
          </a:prstGeom>
          <a:solidFill>
            <a:srgbClr val="EFF6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93792" y="1600200"/>
            <a:ext cx="1746504" cy="4480560"/>
          </a:xfrm>
          <a:prstGeom prst="rect">
            <a:avLst/>
          </a:prstGeom>
          <a:noFill/>
        </p:spPr>
        <p:txBody>
          <a:bodyPr wrap="square">
            <a:spAutoFit/>
          </a:bodyPr>
          <a:lstStyle/>
          <a:p>
            <a:pPr>
              <a:spcAft>
                <a:spcPts val="400"/>
              </a:spcAft>
              <a:defRPr sz="1300" b="1">
                <a:solidFill>
                  <a:srgbClr val="1D4ED8"/>
                </a:solidFill>
              </a:defRPr>
            </a:pPr>
            <a:r>
              <a:t>DEMO 3</a:t>
            </a:r>
          </a:p>
          <a:p>
            <a:pPr>
              <a:spcAft>
                <a:spcPts val="1200"/>
              </a:spcAft>
              <a:defRPr sz="1600" b="1">
                <a:solidFill>
                  <a:srgbClr val="0F172A"/>
                </a:solidFill>
              </a:defRPr>
            </a:pPr>
            <a:r>
              <a:t>Grievance Intake</a:t>
            </a:r>
          </a:p>
          <a:p>
            <a:pPr>
              <a:defRPr sz="1300">
                <a:solidFill>
                  <a:srgbClr val="475569"/>
                </a:solidFill>
              </a:defRPr>
            </a:pPr>
            <a:r>
              <a:t>Type complaint $\rightarrow$ Click AI draft $\rightarrow$ Review $\rightarrow$ Submit.</a:t>
            </a:r>
          </a:p>
        </p:txBody>
      </p:sp>
      <p:sp>
        <p:nvSpPr>
          <p:cNvPr id="10" name="Rounded Rectangle 9"/>
          <p:cNvSpPr/>
          <p:nvPr/>
        </p:nvSpPr>
        <p:spPr>
          <a:xfrm>
            <a:off x="7260336" y="1371600"/>
            <a:ext cx="196596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3" y="1600200"/>
            <a:ext cx="1746504" cy="4480560"/>
          </a:xfrm>
          <a:prstGeom prst="rect">
            <a:avLst/>
          </a:prstGeom>
          <a:noFill/>
        </p:spPr>
        <p:txBody>
          <a:bodyPr wrap="square">
            <a:spAutoFit/>
          </a:bodyPr>
          <a:lstStyle/>
          <a:p>
            <a:pPr>
              <a:spcAft>
                <a:spcPts val="400"/>
              </a:spcAft>
              <a:defRPr sz="1300" b="1">
                <a:solidFill>
                  <a:srgbClr val="1D4ED8"/>
                </a:solidFill>
              </a:defRPr>
            </a:pPr>
            <a:r>
              <a:t>DEMO 4</a:t>
            </a:r>
          </a:p>
          <a:p>
            <a:pPr>
              <a:spcAft>
                <a:spcPts val="1200"/>
              </a:spcAft>
              <a:defRPr sz="1600" b="1">
                <a:solidFill>
                  <a:srgbClr val="0F172A"/>
                </a:solidFill>
              </a:defRPr>
            </a:pPr>
            <a:r>
              <a:t>Voice Search</a:t>
            </a:r>
          </a:p>
          <a:p>
            <a:pPr>
              <a:defRPr sz="1300">
                <a:solidFill>
                  <a:srgbClr val="475569"/>
                </a:solidFill>
              </a:defRPr>
            </a:pPr>
            <a:r>
              <a:t>Hold mic icon $\rightarrow$ Speak question $\rightarrow$ Release $\rightarrow$ Answer appears.</a:t>
            </a:r>
          </a:p>
        </p:txBody>
      </p:sp>
      <p:sp>
        <p:nvSpPr>
          <p:cNvPr id="12" name="Rounded Rectangle 11"/>
          <p:cNvSpPr/>
          <p:nvPr/>
        </p:nvSpPr>
        <p:spPr>
          <a:xfrm>
            <a:off x="9436608" y="1371600"/>
            <a:ext cx="1965960" cy="4937760"/>
          </a:xfrm>
          <a:prstGeom prst="roundRect">
            <a:avLst/>
          </a:prstGeom>
          <a:solidFill>
            <a:srgbClr val="EFF6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46336" y="1600200"/>
            <a:ext cx="1746504" cy="4480560"/>
          </a:xfrm>
          <a:prstGeom prst="rect">
            <a:avLst/>
          </a:prstGeom>
          <a:noFill/>
        </p:spPr>
        <p:txBody>
          <a:bodyPr wrap="square">
            <a:spAutoFit/>
          </a:bodyPr>
          <a:lstStyle/>
          <a:p>
            <a:pPr>
              <a:spcAft>
                <a:spcPts val="400"/>
              </a:spcAft>
              <a:defRPr sz="1300" b="1">
                <a:solidFill>
                  <a:srgbClr val="1D4ED8"/>
                </a:solidFill>
              </a:defRPr>
            </a:pPr>
            <a:r>
              <a:t>DEMO 5</a:t>
            </a:r>
          </a:p>
          <a:p>
            <a:pPr>
              <a:spcAft>
                <a:spcPts val="1200"/>
              </a:spcAft>
              <a:defRPr sz="1600" b="1">
                <a:solidFill>
                  <a:srgbClr val="0F172A"/>
                </a:solidFill>
              </a:defRPr>
            </a:pPr>
            <a:r>
              <a:t>Authority Admin</a:t>
            </a:r>
          </a:p>
          <a:p>
            <a:pPr>
              <a:defRPr sz="1300">
                <a:solidFill>
                  <a:srgbClr val="475569"/>
                </a:solidFill>
              </a:defRPr>
            </a:pPr>
            <a:r>
              <a:t>Open `/authority-admin` $\rightarrow$ View grievance $\rightarrow$ Update status.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300" b="1">
                <a:solidFill>
                  <a:srgbClr val="1D4ED8"/>
                </a:solidFill>
              </a:defRPr>
            </a:pPr>
            <a:r>
              <a:t>FUTURE ROADMAP</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3000" b="1">
                <a:solidFill>
                  <a:srgbClr val="0F172A"/>
                </a:solidFill>
              </a:defRPr>
            </a:pPr>
            <a:r>
              <a:t>Future Scope: Possible Future Enhancements</a:t>
            </a:r>
          </a:p>
        </p:txBody>
      </p:sp>
      <p:sp>
        <p:nvSpPr>
          <p:cNvPr id="4" name="Rounded Rectangle 3"/>
          <p:cNvSpPr/>
          <p:nvPr/>
        </p:nvSpPr>
        <p:spPr>
          <a:xfrm>
            <a:off x="731520" y="1371600"/>
            <a:ext cx="516636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291072" y="1371600"/>
            <a:ext cx="516636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617720" cy="4389120"/>
          </a:xfrm>
          <a:prstGeom prst="rect">
            <a:avLst/>
          </a:prstGeom>
          <a:noFill/>
        </p:spPr>
        <p:txBody>
          <a:bodyPr wrap="square">
            <a:spAutoFit/>
          </a:bodyPr>
          <a:lstStyle/>
          <a:p>
            <a:pPr>
              <a:spcAft>
                <a:spcPts val="1200"/>
              </a:spcAft>
              <a:defRPr sz="1800" b="1">
                <a:solidFill>
                  <a:srgbClr val="1D4ED8"/>
                </a:solidFill>
              </a:defRPr>
            </a:pPr>
            <a:r>
              <a:t>Functional Improvements</a:t>
            </a:r>
          </a:p>
          <a:p>
            <a:pPr>
              <a:spcAft>
                <a:spcPts val="1000"/>
              </a:spcAft>
              <a:defRPr sz="1400" b="1">
                <a:solidFill>
                  <a:srgbClr val="0F172A"/>
                </a:solidFill>
              </a:defRPr>
            </a:pPr>
            <a:r>
              <a:t>🎯 Live University ERP Link: </a:t>
            </a:r>
            <a:r>
              <a:rPr b="0">
                <a:solidFill>
                  <a:srgbClr val="475569"/>
                </a:solidFill>
              </a:rPr>
              <a:t>Connect directly to the university's live database for real-time exam mark updates.</a:t>
            </a:r>
          </a:p>
          <a:p>
            <a:pPr>
              <a:spcAft>
                <a:spcPts val="1000"/>
              </a:spcAft>
              <a:defRPr sz="1400" b="1">
                <a:solidFill>
                  <a:srgbClr val="0F172A"/>
                </a:solidFill>
              </a:defRPr>
            </a:pPr>
            <a:r>
              <a:t>🎯 Regional Language Support: </a:t>
            </a:r>
            <a:r>
              <a:rPr b="0">
                <a:solidFill>
                  <a:srgbClr val="475569"/>
                </a:solidFill>
              </a:rPr>
              <a:t>Add Kashmiri and Urdu language understanding for broader accessibility.</a:t>
            </a:r>
          </a:p>
          <a:p>
            <a:pPr>
              <a:spcAft>
                <a:spcPts val="1000"/>
              </a:spcAft>
              <a:defRPr sz="1400" b="1">
                <a:solidFill>
                  <a:srgbClr val="0F172A"/>
                </a:solidFill>
              </a:defRPr>
            </a:pPr>
            <a:r>
              <a:t>🎯 Voice Output (TTS): </a:t>
            </a:r>
            <a:r>
              <a:rPr b="0">
                <a:solidFill>
                  <a:srgbClr val="475569"/>
                </a:solidFill>
              </a:rPr>
              <a:t>Add text-to-speech so the chatbot can speak answers out loud to the student.</a:t>
            </a:r>
          </a:p>
          <a:p>
            <a:pPr>
              <a:spcAft>
                <a:spcPts val="1000"/>
              </a:spcAft>
              <a:defRPr sz="1400" b="1">
                <a:solidFill>
                  <a:srgbClr val="0F172A"/>
                </a:solidFill>
              </a:defRPr>
            </a:pPr>
            <a:r>
              <a:t>🎯 Push Notifications: </a:t>
            </a:r>
            <a:r>
              <a:rPr b="0">
                <a:solidFill>
                  <a:srgbClr val="475569"/>
                </a:solidFill>
              </a:rPr>
              <a:t>Send automated alerts for upcoming exams, datesheets, and fee deadlines.</a:t>
            </a:r>
          </a:p>
        </p:txBody>
      </p:sp>
      <p:sp>
        <p:nvSpPr>
          <p:cNvPr id="7" name="TextBox 6"/>
          <p:cNvSpPr txBox="1"/>
          <p:nvPr/>
        </p:nvSpPr>
        <p:spPr>
          <a:xfrm>
            <a:off x="6565392" y="1645920"/>
            <a:ext cx="4617720" cy="4389120"/>
          </a:xfrm>
          <a:prstGeom prst="rect">
            <a:avLst/>
          </a:prstGeom>
          <a:noFill/>
        </p:spPr>
        <p:txBody>
          <a:bodyPr wrap="square">
            <a:spAutoFit/>
          </a:bodyPr>
          <a:lstStyle/>
          <a:p>
            <a:pPr>
              <a:spcAft>
                <a:spcPts val="1200"/>
              </a:spcAft>
              <a:defRPr sz="1800" b="1">
                <a:solidFill>
                  <a:srgbClr val="059669"/>
                </a:solidFill>
              </a:defRPr>
            </a:pPr>
            <a:r>
              <a:t>Platform &amp; Mobile Expansion</a:t>
            </a:r>
          </a:p>
          <a:p>
            <a:pPr>
              <a:spcAft>
                <a:spcPts val="1000"/>
              </a:spcAft>
              <a:defRPr sz="1400" b="1">
                <a:solidFill>
                  <a:srgbClr val="0F172A"/>
                </a:solidFill>
              </a:defRPr>
            </a:pPr>
            <a:r>
              <a:t>🎯 Dedicated Mobile App: </a:t>
            </a:r>
            <a:r>
              <a:rPr b="0">
                <a:solidFill>
                  <a:srgbClr val="475569"/>
                </a:solidFill>
              </a:rPr>
              <a:t>Build a Flutter or React Native mobile application for Android and iOS.</a:t>
            </a:r>
          </a:p>
          <a:p>
            <a:pPr>
              <a:spcAft>
                <a:spcPts val="1000"/>
              </a:spcAft>
              <a:defRPr sz="1400" b="1">
                <a:solidFill>
                  <a:srgbClr val="0F172A"/>
                </a:solidFill>
              </a:defRPr>
            </a:pPr>
            <a:r>
              <a:t>🎯 SMS / WhatsApp Updates: </a:t>
            </a:r>
            <a:r>
              <a:rPr b="0">
                <a:solidFill>
                  <a:srgbClr val="475569"/>
                </a:solidFill>
              </a:rPr>
              <a:t>Send grievance status updates directly to the student's phone via SMS or WhatsApp.</a:t>
            </a:r>
          </a:p>
          <a:p>
            <a:pPr>
              <a:spcAft>
                <a:spcPts val="1000"/>
              </a:spcAft>
              <a:defRPr sz="1400" b="1">
                <a:solidFill>
                  <a:srgbClr val="0F172A"/>
                </a:solidFill>
              </a:defRPr>
            </a:pPr>
            <a:r>
              <a:t>🎯 Faculty Portal: </a:t>
            </a:r>
            <a:r>
              <a:rPr b="0">
                <a:solidFill>
                  <a:srgbClr val="475569"/>
                </a:solidFill>
              </a:rPr>
              <a:t>Add features for teachers to view class schedules and attendance summaries.</a:t>
            </a:r>
          </a:p>
          <a:p>
            <a:pPr>
              <a:spcAft>
                <a:spcPts val="1000"/>
              </a:spcAft>
              <a:defRPr sz="1400" b="1">
                <a:solidFill>
                  <a:srgbClr val="0F172A"/>
                </a:solidFill>
              </a:defRPr>
            </a:pPr>
            <a:r>
              <a:t>🎯 Multi-Server Scaling: </a:t>
            </a:r>
            <a:r>
              <a:rPr b="0">
                <a:solidFill>
                  <a:srgbClr val="475569"/>
                </a:solidFill>
              </a:rPr>
              <a:t>Use Redis caching for deploying the chatbot across multiple server instances.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300" b="1">
                <a:solidFill>
                  <a:srgbClr val="1D4ED8"/>
                </a:solidFill>
              </a:defRPr>
            </a:pPr>
            <a:r>
              <a:t>SUMMARY</a:t>
            </a:r>
          </a:p>
        </p:txBody>
      </p:sp>
      <p:sp>
        <p:nvSpPr>
          <p:cNvPr id="3" name="TextBox 2"/>
          <p:cNvSpPr txBox="1"/>
          <p:nvPr/>
        </p:nvSpPr>
        <p:spPr>
          <a:xfrm>
            <a:off x="731520" y="685800"/>
            <a:ext cx="10698480" cy="640080"/>
          </a:xfrm>
          <a:prstGeom prst="rect">
            <a:avLst/>
          </a:prstGeom>
          <a:noFill/>
        </p:spPr>
        <p:txBody>
          <a:bodyPr wrap="square" lIns="0" tIns="0" rIns="0" bIns="0">
            <a:spAutoFit/>
          </a:bodyPr>
          <a:lstStyle/>
          <a:p>
            <a:pPr>
              <a:defRPr sz="3000" b="1">
                <a:solidFill>
                  <a:srgbClr val="0F172A"/>
                </a:solidFill>
              </a:defRPr>
            </a:pPr>
            <a:r>
              <a:t>Conclusion: Summary of Project Achievements</a:t>
            </a:r>
          </a:p>
        </p:txBody>
      </p:sp>
      <p:sp>
        <p:nvSpPr>
          <p:cNvPr id="4" name="Rounded Rectangle 3"/>
          <p:cNvSpPr/>
          <p:nvPr/>
        </p:nvSpPr>
        <p:spPr>
          <a:xfrm>
            <a:off x="731520" y="1371600"/>
            <a:ext cx="10728655"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00200"/>
            <a:ext cx="10180015" cy="4389120"/>
          </a:xfrm>
          <a:prstGeom prst="rect">
            <a:avLst/>
          </a:prstGeom>
          <a:noFill/>
        </p:spPr>
        <p:txBody>
          <a:bodyPr wrap="square">
            <a:spAutoFit/>
          </a:bodyPr>
          <a:lstStyle/>
          <a:p>
            <a:pPr>
              <a:spcAft>
                <a:spcPts val="1000"/>
              </a:spcAft>
              <a:defRPr sz="1600" b="1">
                <a:solidFill>
                  <a:srgbClr val="1D4ED8"/>
                </a:solidFill>
              </a:defRPr>
            </a:pPr>
            <a:r>
              <a:t>CUS AI ASSISTANT — SUMMARY</a:t>
            </a:r>
          </a:p>
          <a:p>
            <a:pPr>
              <a:spcAft>
                <a:spcPts val="800"/>
              </a:spcAft>
              <a:defRPr sz="1400" b="1">
                <a:solidFill>
                  <a:srgbClr val="0F172A"/>
                </a:solidFill>
              </a:defRPr>
            </a:pPr>
            <a:r>
              <a:t>✔ Centralized University Hub: </a:t>
            </a:r>
            <a:r>
              <a:rPr b="0">
                <a:solidFill>
                  <a:srgbClr val="475569"/>
                </a:solidFill>
              </a:rPr>
              <a:t>Combines knowledge search, 15 student services, and grievance handling into one system.</a:t>
            </a:r>
          </a:p>
          <a:p>
            <a:pPr>
              <a:spcAft>
                <a:spcPts val="800"/>
              </a:spcAft>
              <a:defRPr sz="1400" b="1">
                <a:solidFill>
                  <a:srgbClr val="0F172A"/>
                </a:solidFill>
              </a:defRPr>
            </a:pPr>
            <a:r>
              <a:t>✔ Grounded on University Documents: </a:t>
            </a:r>
            <a:r>
              <a:rPr b="0">
                <a:solidFill>
                  <a:srgbClr val="475569"/>
                </a:solidFill>
              </a:rPr>
              <a:t>RAG ensures answers come from official university notices and circulars.</a:t>
            </a:r>
          </a:p>
          <a:p>
            <a:pPr>
              <a:spcAft>
                <a:spcPts val="800"/>
              </a:spcAft>
              <a:defRPr sz="1400" b="1">
                <a:solidFill>
                  <a:srgbClr val="0F172A"/>
                </a:solidFill>
              </a:defRPr>
            </a:pPr>
            <a:r>
              <a:t>✔ Student Services Inside Chat: </a:t>
            </a:r>
            <a:r>
              <a:rPr b="0">
                <a:solidFill>
                  <a:srgbClr val="475569"/>
                </a:solidFill>
              </a:rPr>
              <a:t>Students can check results, admit cards, and attendance quickly and securely.</a:t>
            </a:r>
          </a:p>
          <a:p>
            <a:pPr>
              <a:spcAft>
                <a:spcPts val="800"/>
              </a:spcAft>
              <a:defRPr sz="1400" b="1">
                <a:solidFill>
                  <a:srgbClr val="0F172A"/>
                </a:solidFill>
              </a:defRPr>
            </a:pPr>
            <a:r>
              <a:t>✔ Streamlined Complaint Redressal: </a:t>
            </a:r>
            <a:r>
              <a:rPr b="0">
                <a:solidFill>
                  <a:srgbClr val="475569"/>
                </a:solidFill>
              </a:rPr>
              <a:t>Assists students in writing clear complaints and routes them to the right authority.</a:t>
            </a:r>
          </a:p>
          <a:p>
            <a:pPr>
              <a:spcAft>
                <a:spcPts val="800"/>
              </a:spcAft>
              <a:defRPr sz="1400" b="1">
                <a:solidFill>
                  <a:srgbClr val="0F172A"/>
                </a:solidFill>
              </a:defRPr>
            </a:pPr>
            <a:r>
              <a:t>✔ Voice Enabled &amp; Accessible: </a:t>
            </a:r>
            <a:r>
              <a:rPr b="0">
                <a:solidFill>
                  <a:srgbClr val="475569"/>
                </a:solidFill>
              </a:rPr>
              <a:t>Students can ask questions simply by holding the microphone button.</a:t>
            </a:r>
          </a:p>
          <a:p>
            <a:pPr>
              <a:spcAft>
                <a:spcPts val="800"/>
              </a:spcAft>
              <a:defRPr sz="1400" b="1">
                <a:solidFill>
                  <a:srgbClr val="0F172A"/>
                </a:solidFill>
              </a:defRPr>
            </a:pPr>
            <a:r>
              <a:t>✔ Tested and Verified: </a:t>
            </a:r>
            <a:r>
              <a:rPr b="0">
                <a:solidFill>
                  <a:srgbClr val="475569"/>
                </a:solidFill>
              </a:rPr>
              <a:t>Fully implemented backend and frontend verified with automated tests.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97280"/>
            <a:ext cx="10728655"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9997135" cy="3657600"/>
          </a:xfrm>
          <a:prstGeom prst="rect">
            <a:avLst/>
          </a:prstGeom>
          <a:noFill/>
        </p:spPr>
        <p:txBody>
          <a:bodyPr wrap="square">
            <a:spAutoFit/>
          </a:bodyPr>
          <a:lstStyle/>
          <a:p>
            <a:pPr>
              <a:spcAft>
                <a:spcPts val="1000"/>
              </a:spcAft>
              <a:defRPr sz="3600" b="1">
                <a:solidFill>
                  <a:srgbClr val="059669"/>
                </a:solidFill>
              </a:defRPr>
            </a:pPr>
            <a:r>
              <a:t>THANK YOU!</a:t>
            </a:r>
          </a:p>
          <a:p>
            <a:pPr>
              <a:spcAft>
                <a:spcPts val="1600"/>
              </a:spcAft>
              <a:defRPr sz="2400" b="1">
                <a:solidFill>
                  <a:srgbClr val="FFFFFF"/>
                </a:solidFill>
              </a:defRPr>
            </a:pPr>
            <a:r>
              <a:t>Questions &amp; Discussion</a:t>
            </a:r>
          </a:p>
          <a:p>
            <a:pPr>
              <a:defRPr sz="1600">
                <a:solidFill>
                  <a:srgbClr val="CBD5E1"/>
                </a:solidFill>
              </a:defRPr>
            </a:pPr>
            <a:r>
              <a:t>Thank you for your time and guidance.</a:t>
            </a:r>
            <a:br/>
            <a:r>
              <a:t>I am happy to answer any questions and demonstrate the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